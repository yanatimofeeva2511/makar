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7560000" cy="10692000" type="custom"/>
  <p:notesSz cx="6858000" cy="9144000"/>
  <p:defaultTextStyle>
    <a:defPPr>
      <a:defRPr lang="ru-RU" sz="900">
        <a:latin typeface="Arial"/>
        <a:cs typeface="Arial"/>
      </a:defRPr>
    </a:def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line"/>
          <p:cNvSpPr/>
          <p:nvPr/>
        </p:nvSpPr>
        <p:spPr>
          <a:xfrm>
            <a:off x="396000" y="792000"/>
            <a:ext cx="6768000" cy="43200"/>
          </a:xfrm>
          <a:prstGeom prst="rect">
            <a:avLst/>
          </a:prstGeom>
          <a:solidFill>
            <a:srgbClr val="0F2742"/>
          </a:solidFill>
          <a:ln>
            <a:noFill/>
          </a:ln>
        </p:spPr>
      </p:sp>
      <p:sp>
        <p:nvSpPr>
          <p:cNvPr id="3" name="name"/>
          <p:cNvSpPr txBox="1"/>
          <p:nvPr/>
        </p:nvSpPr>
        <p:spPr>
          <a:xfrm>
            <a:off x="396000" y="288000"/>
            <a:ext cx="4320000" cy="46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ru-RU" sz="2100" b="1">
                <a:solidFill>
                  <a:srgbClr val="0F2742"/>
                </a:solidFill>
                <a:latin typeface="Arial"/>
                <a:cs typeface="Arial"/>
              </a:rPr>
              <a:t>[Имя Фамилия]</a:t>
            </a:r>
            <a:endParaRPr lang="ru-RU" sz="2100"/>
          </a:p>
        </p:txBody>
      </p:sp>
      <p:sp>
        <p:nvSpPr>
          <p:cNvPr id="4" name="contacts"/>
          <p:cNvSpPr txBox="1"/>
          <p:nvPr/>
        </p:nvSpPr>
        <p:spPr>
          <a:xfrm>
            <a:off x="5400000" y="288000"/>
            <a:ext cx="1764000" cy="46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ru-RU" sz="820">
                <a:solidFill>
                  <a:srgbClr val="4B5563"/>
                </a:solidFill>
                <a:latin typeface="Arial"/>
                <a:cs typeface="Arial"/>
              </a:rPr>
              <a:t>[город]</a:t>
            </a:r>
            <a:endParaRPr lang="ru-RU" sz="820"/>
          </a:p>
          <a:p>
            <a:pPr marL="0" indent="0">
              <a:buNone/>
            </a:pPr>
            <a:r>
              <a:rPr lang="ru-RU" sz="820">
                <a:solidFill>
                  <a:srgbClr val="4B5563"/>
                </a:solidFill>
                <a:latin typeface="Arial"/>
                <a:cs typeface="Arial"/>
              </a:rPr>
              <a:t>[телефон]</a:t>
            </a:r>
            <a:endParaRPr lang="ru-RU" sz="820"/>
          </a:p>
          <a:p>
            <a:pPr marL="0" indent="0">
              <a:buNone/>
            </a:pPr>
            <a:r>
              <a:rPr lang="ru-RU" sz="820">
                <a:solidFill>
                  <a:srgbClr val="4B5563"/>
                </a:solidFill>
                <a:latin typeface="Arial"/>
                <a:cs typeface="Arial"/>
              </a:rPr>
              <a:t>[email]</a:t>
            </a:r>
            <a:endParaRPr lang="ru-RU" sz="820"/>
          </a:p>
        </p:txBody>
      </p:sp>
      <p:sp>
        <p:nvSpPr>
          <p:cNvPr id="5" name="headline"/>
          <p:cNvSpPr txBox="1"/>
          <p:nvPr/>
        </p:nvSpPr>
        <p:spPr>
          <a:xfrm>
            <a:off x="396000" y="864000"/>
            <a:ext cx="6768000" cy="57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ru-RU" sz="1050" b="1">
                <a:solidFill>
                  <a:srgbClr val="173A5E"/>
                </a:solidFill>
                <a:latin typeface="Arial"/>
                <a:cs typeface="Arial"/>
              </a:rPr>
              <a:t>C-level лидер | розничный банкинг, финтех и платежная инфраструктура</a:t>
            </a:r>
            <a:endParaRPr lang="ru-RU" sz="1050"/>
          </a:p>
          <a:p>
            <a:pPr marL="0" indent="0">
              <a:buNone/>
            </a:pPr>
            <a:r>
              <a:rPr lang="ru-RU" sz="820">
                <a:solidFill>
                  <a:srgbClr val="4B5563"/>
                </a:solidFill>
                <a:latin typeface="Arial"/>
                <a:cs typeface="Arial"/>
              </a:rPr>
              <a:t>BUILD / TRANSFORM / LEAD: запуск бизнес-направлений, трансформация продуктовых моделей, управление крупными программами изменений</a:t>
            </a:r>
            <a:endParaRPr lang="ru-RU" sz="820"/>
          </a:p>
        </p:txBody>
      </p:sp>
      <p:sp>
        <p:nvSpPr>
          <p:cNvPr id="6" name="profile title"/>
          <p:cNvSpPr txBox="1"/>
          <p:nvPr/>
        </p:nvSpPr>
        <p:spPr>
          <a:xfrm>
            <a:off x="396000" y="1584000"/>
            <a:ext cx="6768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ru-RU" sz="850" b="1">
                <a:solidFill>
                  <a:srgbClr val="0F2742"/>
                </a:solidFill>
                <a:latin typeface="Arial"/>
                <a:cs typeface="Arial"/>
              </a:rPr>
              <a:t>ПРОФИЛЬ</a:t>
            </a:r>
            <a:endParaRPr lang="ru-RU" sz="850"/>
          </a:p>
        </p:txBody>
      </p:sp>
      <p:sp>
        <p:nvSpPr>
          <p:cNvPr id="7" name="profile underline"/>
          <p:cNvSpPr/>
          <p:nvPr/>
        </p:nvSpPr>
        <p:spPr>
          <a:xfrm>
            <a:off x="396000" y="1836000"/>
            <a:ext cx="6768000" cy="90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8" name="profile body"/>
          <p:cNvSpPr txBox="1"/>
          <p:nvPr/>
        </p:nvSpPr>
        <p:spPr>
          <a:xfrm>
            <a:off x="396000" y="1944000"/>
            <a:ext cx="6768000" cy="118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ru-RU" sz="820">
                <a:solidFill>
                  <a:srgbClr val="1F2933"/>
                </a:solidFill>
                <a:latin typeface="Arial"/>
                <a:cs typeface="Arial"/>
              </a:rPr>
              <a:t>Бизнес-лидер с 20+ годами опыта в крупнейших финансовых организациях России. Отвечаю за розничные направления, запуск новых продуктов, клиентский рост, партнерскую дистрибуцию, технологические миграции и федеральные проекты на стыке бизнеса, IT, операций, маркетинга, продаж и регуляторного контура.</a:t>
            </a:r>
            <a:endParaRPr lang="ru-RU" sz="820"/>
          </a:p>
          <a:p>
            <a:pPr marL="0" indent="0">
              <a:buNone/>
            </a:pPr>
            <a:r>
              <a:rPr lang="ru-RU" sz="820">
                <a:solidFill>
                  <a:srgbClr val="1F2933"/>
                </a:solidFill>
                <a:latin typeface="Arial"/>
                <a:cs typeface="Arial"/>
              </a:rPr>
              <a:t>Моя ценность - в ситуациях, где нужно быстро соединить стратегию, экономику продукта, операционную модель и delivery в измеримый результат: запустить направление с нуля, перестроить действующую модель или провести сложную программу без потери клиентского опыта.</a:t>
            </a:r>
            <a:endParaRPr lang="ru-RU" sz="820"/>
          </a:p>
        </p:txBody>
      </p:sp>
      <p:sp>
        <p:nvSpPr>
          <p:cNvPr id="20" name="metric tag"/>
          <p:cNvSpPr txBox="1"/>
          <p:nvPr/>
        </p:nvSpPr>
        <p:spPr>
          <a:xfrm>
            <a:off x="396000" y="3168000"/>
            <a:ext cx="720000" cy="252000"/>
          </a:xfrm>
          <a:prstGeom prst="roundRect">
            <a:avLst/>
          </a:prstGeom>
          <a:solidFill>
            <a:srgbClr val="E8F1FB"/>
          </a:solidFill>
          <a:ln w="6350">
            <a:solidFill>
              <a:srgbClr val="E8F1FB"/>
            </a:solidFill>
          </a:ln>
        </p:spPr>
        <p:txBody>
          <a:bodyPr wrap="square" lIns="22000" tIns="22000" rIns="22000" bIns="22000"/>
          <a:lstStyle/>
          <a:p>
            <a:pPr marL="0" indent="0">
              <a:buNone/>
            </a:pPr>
            <a:r>
              <a:rPr lang="ru-RU" sz="760" b="1">
                <a:solidFill>
                  <a:srgbClr val="0F4778"/>
                </a:solidFill>
                <a:latin typeface="Arial"/>
                <a:cs typeface="Arial"/>
              </a:rPr>
              <a:t>20+ лет</a:t>
            </a:r>
            <a:endParaRPr lang="ru-RU" sz="760"/>
          </a:p>
        </p:txBody>
      </p:sp>
      <p:sp>
        <p:nvSpPr>
          <p:cNvPr id="21" name="metric tag"/>
          <p:cNvSpPr txBox="1"/>
          <p:nvPr/>
        </p:nvSpPr>
        <p:spPr>
          <a:xfrm>
            <a:off x="1224000" y="3168000"/>
            <a:ext cx="1116000" cy="252000"/>
          </a:xfrm>
          <a:prstGeom prst="roundRect">
            <a:avLst/>
          </a:prstGeom>
          <a:solidFill>
            <a:srgbClr val="E8F1FB"/>
          </a:solidFill>
          <a:ln w="6350">
            <a:solidFill>
              <a:srgbClr val="E8F1FB"/>
            </a:solidFill>
          </a:ln>
        </p:spPr>
        <p:txBody>
          <a:bodyPr wrap="square" lIns="22000" tIns="22000" rIns="22000" bIns="22000"/>
          <a:lstStyle/>
          <a:p>
            <a:pPr marL="0" indent="0">
              <a:buNone/>
            </a:pPr>
            <a:r>
              <a:rPr lang="ru-RU" sz="760" b="1">
                <a:solidFill>
                  <a:srgbClr val="0F4778"/>
                </a:solidFill>
                <a:latin typeface="Arial"/>
                <a:cs typeface="Arial"/>
              </a:rPr>
              <a:t>25 млн клиентов</a:t>
            </a:r>
            <a:endParaRPr lang="ru-RU" sz="760"/>
          </a:p>
        </p:txBody>
      </p:sp>
      <p:sp>
        <p:nvSpPr>
          <p:cNvPr id="22" name="metric tag"/>
          <p:cNvSpPr txBox="1"/>
          <p:nvPr/>
        </p:nvSpPr>
        <p:spPr>
          <a:xfrm>
            <a:off x="2448000" y="3168000"/>
            <a:ext cx="1440000" cy="252000"/>
          </a:xfrm>
          <a:prstGeom prst="roundRect">
            <a:avLst/>
          </a:prstGeom>
          <a:solidFill>
            <a:srgbClr val="E8F1FB"/>
          </a:solidFill>
          <a:ln w="6350">
            <a:solidFill>
              <a:srgbClr val="E8F1FB"/>
            </a:solidFill>
          </a:ln>
        </p:spPr>
        <p:txBody>
          <a:bodyPr wrap="square" lIns="22000" tIns="22000" rIns="22000" bIns="22000"/>
          <a:lstStyle/>
          <a:p>
            <a:pPr marL="0" indent="0">
              <a:buNone/>
            </a:pPr>
            <a:r>
              <a:rPr lang="ru-RU" sz="760" b="1">
                <a:solidFill>
                  <a:srgbClr val="0F4778"/>
                </a:solidFill>
                <a:latin typeface="Arial"/>
                <a:cs typeface="Arial"/>
              </a:rPr>
              <a:t>20 млн без простоя</a:t>
            </a:r>
            <a:endParaRPr lang="ru-RU" sz="760"/>
          </a:p>
        </p:txBody>
      </p:sp>
      <p:sp>
        <p:nvSpPr>
          <p:cNvPr id="23" name="metric tag"/>
          <p:cNvSpPr txBox="1"/>
          <p:nvPr/>
        </p:nvSpPr>
        <p:spPr>
          <a:xfrm>
            <a:off x="3996000" y="3168000"/>
            <a:ext cx="1548000" cy="252000"/>
          </a:xfrm>
          <a:prstGeom prst="roundRect">
            <a:avLst/>
          </a:prstGeom>
          <a:solidFill>
            <a:srgbClr val="E8F1FB"/>
          </a:solidFill>
          <a:ln w="6350">
            <a:solidFill>
              <a:srgbClr val="E8F1FB"/>
            </a:solidFill>
          </a:ln>
        </p:spPr>
        <p:txBody>
          <a:bodyPr wrap="square" lIns="22000" tIns="22000" rIns="22000" bIns="22000"/>
          <a:lstStyle/>
          <a:p>
            <a:pPr marL="0" indent="0">
              <a:buNone/>
            </a:pPr>
            <a:r>
              <a:rPr lang="ru-RU" sz="760" b="1">
                <a:solidFill>
                  <a:srgbClr val="0F4778"/>
                </a:solidFill>
                <a:latin typeface="Arial"/>
                <a:cs typeface="Arial"/>
              </a:rPr>
              <a:t>2 млн федеральный проект</a:t>
            </a:r>
            <a:endParaRPr lang="ru-RU" sz="760"/>
          </a:p>
        </p:txBody>
      </p:sp>
      <p:sp>
        <p:nvSpPr>
          <p:cNvPr id="24" name="metric tag"/>
          <p:cNvSpPr txBox="1"/>
          <p:nvPr/>
        </p:nvSpPr>
        <p:spPr>
          <a:xfrm>
            <a:off x="396000" y="3492000"/>
            <a:ext cx="828000" cy="252000"/>
          </a:xfrm>
          <a:prstGeom prst="roundRect">
            <a:avLst/>
          </a:prstGeom>
          <a:solidFill>
            <a:srgbClr val="E8F1FB"/>
          </a:solidFill>
          <a:ln w="6350">
            <a:solidFill>
              <a:srgbClr val="E8F1FB"/>
            </a:solidFill>
          </a:ln>
        </p:spPr>
        <p:txBody>
          <a:bodyPr wrap="square" lIns="22000" tIns="22000" rIns="22000" bIns="22000"/>
          <a:lstStyle/>
          <a:p>
            <a:pPr marL="0" indent="0">
              <a:buNone/>
            </a:pPr>
            <a:r>
              <a:rPr lang="ru-RU" sz="760" b="1">
                <a:solidFill>
                  <a:srgbClr val="0F4778"/>
                </a:solidFill>
                <a:latin typeface="Arial"/>
                <a:cs typeface="Arial"/>
              </a:rPr>
              <a:t>+25% YoY</a:t>
            </a:r>
            <a:endParaRPr lang="ru-RU" sz="760"/>
          </a:p>
        </p:txBody>
      </p:sp>
      <p:sp>
        <p:nvSpPr>
          <p:cNvPr id="25" name="metric tag"/>
          <p:cNvSpPr txBox="1"/>
          <p:nvPr/>
        </p:nvSpPr>
        <p:spPr>
          <a:xfrm>
            <a:off x="1332000" y="3492000"/>
            <a:ext cx="792000" cy="252000"/>
          </a:xfrm>
          <a:prstGeom prst="roundRect">
            <a:avLst/>
          </a:prstGeom>
          <a:solidFill>
            <a:srgbClr val="E8F1FB"/>
          </a:solidFill>
          <a:ln w="6350">
            <a:solidFill>
              <a:srgbClr val="E8F1FB"/>
            </a:solidFill>
          </a:ln>
        </p:spPr>
        <p:txBody>
          <a:bodyPr wrap="square" lIns="22000" tIns="22000" rIns="22000" bIns="22000"/>
          <a:lstStyle/>
          <a:p>
            <a:pPr marL="0" indent="0">
              <a:buNone/>
            </a:pPr>
            <a:r>
              <a:rPr lang="ru-RU" sz="760" b="1">
                <a:solidFill>
                  <a:srgbClr val="0F4778"/>
                </a:solidFill>
                <a:latin typeface="Arial"/>
                <a:cs typeface="Arial"/>
              </a:rPr>
              <a:t>AUM +35%</a:t>
            </a:r>
            <a:endParaRPr lang="ru-RU" sz="760"/>
          </a:p>
        </p:txBody>
      </p:sp>
      <p:sp>
        <p:nvSpPr>
          <p:cNvPr id="26" name="metric tag"/>
          <p:cNvSpPr txBox="1"/>
          <p:nvPr/>
        </p:nvSpPr>
        <p:spPr>
          <a:xfrm>
            <a:off x="2232000" y="3492000"/>
            <a:ext cx="684000" cy="252000"/>
          </a:xfrm>
          <a:prstGeom prst="roundRect">
            <a:avLst/>
          </a:prstGeom>
          <a:solidFill>
            <a:srgbClr val="E8F1FB"/>
          </a:solidFill>
          <a:ln w="6350">
            <a:solidFill>
              <a:srgbClr val="E8F1FB"/>
            </a:solidFill>
          </a:ln>
        </p:spPr>
        <p:txBody>
          <a:bodyPr wrap="square" lIns="22000" tIns="22000" rIns="22000" bIns="22000"/>
          <a:lstStyle/>
          <a:p>
            <a:pPr marL="0" indent="0">
              <a:buNone/>
            </a:pPr>
            <a:r>
              <a:rPr lang="ru-RU" sz="760" b="1">
                <a:solidFill>
                  <a:srgbClr val="0F4778"/>
                </a:solidFill>
                <a:latin typeface="Arial"/>
                <a:cs typeface="Arial"/>
              </a:rPr>
              <a:t>88% NTB</a:t>
            </a:r>
            <a:endParaRPr lang="ru-RU" sz="760"/>
          </a:p>
        </p:txBody>
      </p:sp>
      <p:sp>
        <p:nvSpPr>
          <p:cNvPr id="27" name="metric tag"/>
          <p:cNvSpPr txBox="1"/>
          <p:nvPr/>
        </p:nvSpPr>
        <p:spPr>
          <a:xfrm>
            <a:off x="3024000" y="3492000"/>
            <a:ext cx="900000" cy="252000"/>
          </a:xfrm>
          <a:prstGeom prst="roundRect">
            <a:avLst/>
          </a:prstGeom>
          <a:solidFill>
            <a:srgbClr val="E8F1FB"/>
          </a:solidFill>
          <a:ln w="6350">
            <a:solidFill>
              <a:srgbClr val="E8F1FB"/>
            </a:solidFill>
          </a:ln>
        </p:spPr>
        <p:txBody>
          <a:bodyPr wrap="square" lIns="22000" tIns="22000" rIns="22000" bIns="22000"/>
          <a:lstStyle/>
          <a:p>
            <a:pPr marL="0" indent="0">
              <a:buNone/>
            </a:pPr>
            <a:r>
              <a:rPr lang="ru-RU" sz="760" b="1">
                <a:solidFill>
                  <a:srgbClr val="0F4778"/>
                </a:solidFill>
                <a:latin typeface="Arial"/>
                <a:cs typeface="Arial"/>
              </a:rPr>
              <a:t>N1 / N2 / N5</a:t>
            </a:r>
            <a:endParaRPr lang="ru-RU" sz="760"/>
          </a:p>
        </p:txBody>
      </p:sp>
      <p:sp>
        <p:nvSpPr>
          <p:cNvPr id="40" name="focus title"/>
          <p:cNvSpPr txBox="1"/>
          <p:nvPr/>
        </p:nvSpPr>
        <p:spPr>
          <a:xfrm>
            <a:off x="396000" y="3996000"/>
            <a:ext cx="4356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ru-RU" sz="850" b="1">
                <a:solidFill>
                  <a:srgbClr val="0F2742"/>
                </a:solidFill>
                <a:latin typeface="Arial"/>
                <a:cs typeface="Arial"/>
              </a:rPr>
              <a:t>УПРАВЛЕНЧЕСКИЙ ФОКУС</a:t>
            </a:r>
            <a:endParaRPr lang="ru-RU" sz="850"/>
          </a:p>
        </p:txBody>
      </p:sp>
      <p:sp>
        <p:nvSpPr>
          <p:cNvPr id="41" name="focus underline"/>
          <p:cNvSpPr/>
          <p:nvPr/>
        </p:nvSpPr>
        <p:spPr>
          <a:xfrm>
            <a:off x="396000" y="4248000"/>
            <a:ext cx="4356000" cy="90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50" name="BUILD - запуск самостоятельных бизнес-направлений"/>
          <p:cNvSpPr txBox="1"/>
          <p:nvPr/>
        </p:nvSpPr>
        <p:spPr>
          <a:xfrm>
            <a:off x="396000" y="4392000"/>
            <a:ext cx="4356000" cy="15480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7DEE8"/>
            </a:solidFill>
          </a:ln>
        </p:spPr>
        <p:txBody>
          <a:bodyPr wrap="square" lIns="25000" tIns="25000" rIns="25000" bIns="25000"/>
          <a:lstStyle/>
          <a:p>
            <a:pPr marL="0" indent="0">
              <a:buNone/>
            </a:pPr>
            <a:r>
              <a:rPr lang="ru-RU" sz="830" b="1">
                <a:solidFill>
                  <a:srgbClr val="173A5E"/>
                </a:solidFill>
                <a:latin typeface="Arial"/>
                <a:cs typeface="Arial"/>
              </a:rPr>
              <a:t>BUILD - запуск самостоятельных бизнес-направлений</a:t>
            </a:r>
            <a:endParaRPr lang="ru-RU" sz="830"/>
          </a:p>
          <a:p>
            <a:pPr marL="190000" indent="-90000">
              <a:buChar char="•"/>
            </a:pPr>
            <a:r>
              <a:rPr lang="ru-RU" sz="690">
                <a:solidFill>
                  <a:srgbClr val="1F2933"/>
                </a:solidFill>
                <a:latin typeface="Arial"/>
                <a:cs typeface="Arial"/>
              </a:rPr>
              <a:t>Определяю рынок, клиентские сегменты, бизнес-модель, стратегию развития, инвестиционную логику и период окупаемости.</a:t>
            </a:r>
            <a:endParaRPr lang="ru-RU" sz="690"/>
          </a:p>
          <a:p>
            <a:pPr marL="190000" indent="-90000">
              <a:buChar char="•"/>
            </a:pPr>
            <a:r>
              <a:rPr lang="ru-RU" sz="690">
                <a:solidFill>
                  <a:srgbClr val="1F2933"/>
                </a:solidFill>
                <a:latin typeface="Arial"/>
                <a:cs typeface="Arial"/>
              </a:rPr>
              <a:t>Формирую продуктовый ряд и клиентское предложение; развиваю каналы продаж, партнерские программы и дистрибуцию.</a:t>
            </a:r>
            <a:endParaRPr lang="ru-RU" sz="690"/>
          </a:p>
          <a:p>
            <a:pPr marL="190000" indent="-90000">
              <a:buChar char="•"/>
            </a:pPr>
            <a:r>
              <a:rPr lang="ru-RU" sz="690">
                <a:solidFill>
                  <a:srgbClr val="1F2933"/>
                </a:solidFill>
                <a:latin typeface="Arial"/>
                <a:cs typeface="Arial"/>
              </a:rPr>
              <a:t>Собираю кросс-функциональную реализацию вместе с бизнесом, продажами, маркетингом, продуктом, операциями и IT.</a:t>
            </a:r>
            <a:endParaRPr lang="ru-RU" sz="690"/>
          </a:p>
        </p:txBody>
      </p:sp>
      <p:sp>
        <p:nvSpPr>
          <p:cNvPr id="51" name="TRANSFORM - корректировка существующей модели"/>
          <p:cNvSpPr txBox="1"/>
          <p:nvPr/>
        </p:nvSpPr>
        <p:spPr>
          <a:xfrm>
            <a:off x="396000" y="6120000"/>
            <a:ext cx="4356000" cy="15480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7DEE8"/>
            </a:solidFill>
          </a:ln>
        </p:spPr>
        <p:txBody>
          <a:bodyPr wrap="square" lIns="25000" tIns="25000" rIns="25000" bIns="25000"/>
          <a:lstStyle/>
          <a:p>
            <a:pPr marL="0" indent="0">
              <a:buNone/>
            </a:pPr>
            <a:r>
              <a:rPr lang="ru-RU" sz="830" b="1">
                <a:solidFill>
                  <a:srgbClr val="173A5E"/>
                </a:solidFill>
                <a:latin typeface="Arial"/>
                <a:cs typeface="Arial"/>
              </a:rPr>
              <a:t>TRANSFORM - корректировка существующей модели</a:t>
            </a:r>
            <a:endParaRPr lang="ru-RU" sz="830"/>
          </a:p>
          <a:p>
            <a:pPr marL="190000" indent="-90000">
              <a:buChar char="•"/>
            </a:pPr>
            <a:r>
              <a:rPr lang="ru-RU" sz="690">
                <a:solidFill>
                  <a:srgbClr val="1F2933"/>
                </a:solidFill>
                <a:latin typeface="Arial"/>
                <a:cs typeface="Arial"/>
              </a:rPr>
              <a:t>Диагностирую действующую модель бизнеса и определяю, какие изменения нужны под новые цели роста и доходности.</a:t>
            </a:r>
            <a:endParaRPr lang="ru-RU" sz="690"/>
          </a:p>
          <a:p>
            <a:pPr marL="190000" indent="-90000">
              <a:buChar char="•"/>
            </a:pPr>
            <a:r>
              <a:rPr lang="ru-RU" sz="690">
                <a:solidFill>
                  <a:srgbClr val="1F2933"/>
                </a:solidFill>
                <a:latin typeface="Arial"/>
                <a:cs typeface="Arial"/>
              </a:rPr>
              <a:t>Пересобираю стратегию, экономику привлечения, источники финансирования, продуктовые приоритеты и операционную модель.</a:t>
            </a:r>
            <a:endParaRPr lang="ru-RU" sz="690"/>
          </a:p>
          <a:p>
            <a:pPr marL="190000" indent="-90000">
              <a:buChar char="•"/>
            </a:pPr>
            <a:r>
              <a:rPr lang="ru-RU" sz="690">
                <a:solidFill>
                  <a:srgbClr val="1F2933"/>
                </a:solidFill>
                <a:latin typeface="Arial"/>
                <a:cs typeface="Arial"/>
              </a:rPr>
              <a:t>Провожу изменения в работающем контуре банка: продукт, процессы, технологии, оргструктура и клиентский опыт.</a:t>
            </a:r>
            <a:endParaRPr lang="ru-RU" sz="690"/>
          </a:p>
        </p:txBody>
      </p:sp>
      <p:sp>
        <p:nvSpPr>
          <p:cNvPr id="52" name="LEAD - сложные программы с большим количеством участников"/>
          <p:cNvSpPr txBox="1"/>
          <p:nvPr/>
        </p:nvSpPr>
        <p:spPr>
          <a:xfrm>
            <a:off x="396000" y="7848000"/>
            <a:ext cx="4356000" cy="15480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7DEE8"/>
            </a:solidFill>
          </a:ln>
        </p:spPr>
        <p:txBody>
          <a:bodyPr wrap="square" lIns="25000" tIns="25000" rIns="25000" bIns="25000"/>
          <a:lstStyle/>
          <a:p>
            <a:pPr marL="0" indent="0">
              <a:buNone/>
            </a:pPr>
            <a:r>
              <a:rPr lang="ru-RU" sz="830" b="1">
                <a:solidFill>
                  <a:srgbClr val="173A5E"/>
                </a:solidFill>
                <a:latin typeface="Arial"/>
                <a:cs typeface="Arial"/>
              </a:rPr>
              <a:t>LEAD - сложные программы с большим количеством участников</a:t>
            </a:r>
            <a:endParaRPr lang="ru-RU" sz="830"/>
          </a:p>
          <a:p>
            <a:pPr marL="190000" indent="-90000">
              <a:buChar char="•"/>
            </a:pPr>
            <a:r>
              <a:rPr lang="ru-RU" sz="690">
                <a:solidFill>
                  <a:srgbClr val="1F2933"/>
                </a:solidFill>
                <a:latin typeface="Arial"/>
                <a:cs typeface="Arial"/>
              </a:rPr>
              <a:t>Формирую концепт проекта, систему принятия решений и общие цели для бизнеса, IT, операций, продаж, маркетинга, регулятора и внешних партнеров.</a:t>
            </a:r>
            <a:endParaRPr lang="ru-RU" sz="690"/>
          </a:p>
          <a:p>
            <a:pPr marL="190000" indent="-90000">
              <a:buChar char="•"/>
            </a:pPr>
            <a:r>
              <a:rPr lang="ru-RU" sz="690">
                <a:solidFill>
                  <a:srgbClr val="1F2933"/>
                </a:solidFill>
                <a:latin typeface="Arial"/>
                <a:cs typeface="Arial"/>
              </a:rPr>
              <a:t>Организую Agile-команды и крупные delivery-программы; удерживаю результат в условиях высокой организационной и технологической сложности.</a:t>
            </a:r>
            <a:endParaRPr lang="ru-RU" sz="690"/>
          </a:p>
          <a:p>
            <a:pPr marL="190000" indent="-90000">
              <a:buChar char="•"/>
            </a:pPr>
            <a:r>
              <a:rPr lang="ru-RU" sz="690">
                <a:solidFill>
                  <a:srgbClr val="1F2933"/>
                </a:solidFill>
                <a:latin typeface="Arial"/>
                <a:cs typeface="Arial"/>
              </a:rPr>
              <a:t>Обеспечиваю бесшовность критичных изменений для клиентов и операционного контура.</a:t>
            </a:r>
            <a:endParaRPr lang="ru-RU" sz="690"/>
          </a:p>
        </p:txBody>
      </p:sp>
      <p:sp>
        <p:nvSpPr>
          <p:cNvPr id="70" name="roles title"/>
          <p:cNvSpPr txBox="1"/>
          <p:nvPr/>
        </p:nvSpPr>
        <p:spPr>
          <a:xfrm>
            <a:off x="5004000" y="3996000"/>
            <a:ext cx="2160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ru-RU" sz="850" b="1">
                <a:solidFill>
                  <a:srgbClr val="0F2742"/>
                </a:solidFill>
                <a:latin typeface="Arial"/>
                <a:cs typeface="Arial"/>
              </a:rPr>
              <a:t>ЦЕЛЕВЫЕ РОЛИ</a:t>
            </a:r>
            <a:endParaRPr lang="ru-RU" sz="850"/>
          </a:p>
        </p:txBody>
      </p:sp>
      <p:sp>
        <p:nvSpPr>
          <p:cNvPr id="71" name="roles underline"/>
          <p:cNvSpPr/>
          <p:nvPr/>
        </p:nvSpPr>
        <p:spPr>
          <a:xfrm>
            <a:off x="5004000" y="4248000"/>
            <a:ext cx="2160000" cy="90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72" name="roles body"/>
          <p:cNvSpPr txBox="1"/>
          <p:nvPr/>
        </p:nvSpPr>
        <p:spPr>
          <a:xfrm>
            <a:off x="5004000" y="4392000"/>
            <a:ext cx="2160000" cy="151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ru-RU" sz="720">
                <a:solidFill>
                  <a:srgbClr val="1F2933"/>
                </a:solidFill>
                <a:latin typeface="Arial"/>
                <a:cs typeface="Arial"/>
              </a:rPr>
              <a:t>Chief Business Officer / Chief Product Officer / Chief Operating Officer / Head of Retail Banking / Managing Director по розничному бизнесу, продуктам, платежам, клиентским платформам или трансформации финансового бизнеса.</a:t>
            </a:r>
            <a:endParaRPr lang="ru-RU" sz="720"/>
          </a:p>
        </p:txBody>
      </p:sp>
      <p:sp>
        <p:nvSpPr>
          <p:cNvPr id="73" name="expertise title"/>
          <p:cNvSpPr txBox="1"/>
          <p:nvPr/>
        </p:nvSpPr>
        <p:spPr>
          <a:xfrm>
            <a:off x="5004000" y="5976000"/>
            <a:ext cx="2160000" cy="2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ru-RU" sz="850" b="1">
                <a:solidFill>
                  <a:srgbClr val="0F2742"/>
                </a:solidFill>
                <a:latin typeface="Arial"/>
                <a:cs typeface="Arial"/>
              </a:rPr>
              <a:t>ЗОНЫ ЭКСПЕРТИЗЫ</a:t>
            </a:r>
            <a:endParaRPr lang="ru-RU" sz="850"/>
          </a:p>
        </p:txBody>
      </p:sp>
      <p:sp>
        <p:nvSpPr>
          <p:cNvPr id="74" name="expertise underline"/>
          <p:cNvSpPr/>
          <p:nvPr/>
        </p:nvSpPr>
        <p:spPr>
          <a:xfrm>
            <a:off x="5004000" y="6228000"/>
            <a:ext cx="2160000" cy="90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75" name="expertise body"/>
          <p:cNvSpPr txBox="1"/>
          <p:nvPr/>
        </p:nvSpPr>
        <p:spPr>
          <a:xfrm>
            <a:off x="5004000" y="6372000"/>
            <a:ext cx="2160000" cy="295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ru-RU" sz="650">
                <a:solidFill>
                  <a:srgbClr val="667085"/>
                </a:solidFill>
                <a:latin typeface="Arial"/>
                <a:cs typeface="Arial"/>
              </a:rPr>
              <a:t>Области с hands-on управленческим опытом и подтвержденными бизнес-результатами.</a:t>
            </a:r>
            <a:endParaRPr lang="ru-RU" sz="650"/>
          </a:p>
          <a:p>
            <a:pPr marL="0" indent="0">
              <a:buNone/>
            </a:pPr>
            <a:r>
              <a:rPr lang="ru-RU" sz="660" b="1">
                <a:solidFill>
                  <a:srgbClr val="1F2933"/>
                </a:solidFill>
                <a:latin typeface="Arial"/>
                <a:cs typeface="Arial"/>
              </a:rPr>
              <a:t>Розничный банковский бизнес и P&amp;L:</a:t>
            </a:r>
            <a:r>
              <a:rPr lang="ru-RU" sz="660">
                <a:solidFill>
                  <a:srgbClr val="1F2933"/>
                </a:solidFill>
                <a:latin typeface="Arial"/>
                <a:cs typeface="Arial"/>
              </a:rPr>
              <a:t> направления бизнеса, продуктовая стратегия, экономика привлечения, окупаемость, KPI.</a:t>
            </a:r>
            <a:endParaRPr lang="ru-RU" sz="660"/>
          </a:p>
          <a:p>
            <a:pPr marL="0" indent="0">
              <a:buNone/>
            </a:pPr>
            <a:r>
              <a:rPr lang="ru-RU" sz="660" b="1">
                <a:solidFill>
                  <a:srgbClr val="1F2933"/>
                </a:solidFill>
                <a:latin typeface="Arial"/>
                <a:cs typeface="Arial"/>
              </a:rPr>
              <a:t>Продукты и клиентский рост:</a:t>
            </a:r>
            <a:r>
              <a:rPr lang="ru-RU" sz="660">
                <a:solidFill>
                  <a:srgbClr val="1F2933"/>
                </a:solidFill>
                <a:latin typeface="Arial"/>
                <a:cs typeface="Arial"/>
              </a:rPr>
              <a:t> карты, депозиты, инвестиционные и страховые продукты, расчетные продукты, зарплатные проекты, автокредитование, РКО, AUM, NTB.</a:t>
            </a:r>
            <a:endParaRPr lang="ru-RU" sz="660"/>
          </a:p>
          <a:p>
            <a:pPr marL="0" indent="0">
              <a:buNone/>
            </a:pPr>
            <a:r>
              <a:rPr lang="ru-RU" sz="660" b="1">
                <a:solidFill>
                  <a:srgbClr val="1F2933"/>
                </a:solidFill>
                <a:latin typeface="Arial"/>
                <a:cs typeface="Arial"/>
              </a:rPr>
              <a:t>Каналы и партнерства:</a:t>
            </a:r>
            <a:r>
              <a:rPr lang="ru-RU" sz="660">
                <a:solidFill>
                  <a:srgbClr val="1F2933"/>
                </a:solidFill>
                <a:latin typeface="Arial"/>
                <a:cs typeface="Arial"/>
              </a:rPr>
              <a:t> собственная и партнерская дистрибуция, партнерские программы, маркетинг и CRM.</a:t>
            </a:r>
            <a:endParaRPr lang="ru-RU" sz="660"/>
          </a:p>
          <a:p>
            <a:pPr marL="0" indent="0">
              <a:buNone/>
            </a:pPr>
            <a:r>
              <a:rPr lang="ru-RU" sz="660" b="1">
                <a:solidFill>
                  <a:srgbClr val="1F2933"/>
                </a:solidFill>
                <a:latin typeface="Arial"/>
                <a:cs typeface="Arial"/>
              </a:rPr>
              <a:t>Технологии и delivery:</a:t>
            </a:r>
            <a:r>
              <a:rPr lang="ru-RU" sz="660">
                <a:solidFill>
                  <a:srgbClr val="1F2933"/>
                </a:solidFill>
                <a:latin typeface="Arial"/>
                <a:cs typeface="Arial"/>
              </a:rPr>
              <a:t> процессинг, миграции, Agile, трайбы, IT-трансформация, кросс-функциональные команды.</a:t>
            </a:r>
            <a:endParaRPr lang="ru-RU" sz="660"/>
          </a:p>
          <a:p>
            <a:pPr marL="0" indent="0">
              <a:buNone/>
            </a:pPr>
            <a:r>
              <a:rPr lang="ru-RU" sz="660" b="1">
                <a:solidFill>
                  <a:srgbClr val="1F2933"/>
                </a:solidFill>
                <a:latin typeface="Arial"/>
                <a:cs typeface="Arial"/>
              </a:rPr>
              <a:t>Регуляторика:</a:t>
            </a:r>
            <a:r>
              <a:rPr lang="ru-RU" sz="660">
                <a:solidFill>
                  <a:srgbClr val="1F2933"/>
                </a:solidFill>
                <a:latin typeface="Arial"/>
                <a:cs typeface="Arial"/>
              </a:rPr>
              <a:t> федеральные проекты, регулятор, платежные системы, международные расчеты, SDN, санкционные изменения.</a:t>
            </a:r>
            <a:endParaRPr lang="ru-RU" sz="660"/>
          </a:p>
        </p:txBody>
      </p:sp>
      <p:sp>
        <p:nvSpPr>
          <p:cNvPr id="76" name="education"/>
          <p:cNvSpPr txBox="1"/>
          <p:nvPr/>
        </p:nvSpPr>
        <p:spPr>
          <a:xfrm>
            <a:off x="5004000" y="9432000"/>
            <a:ext cx="2160000" cy="57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ru-RU" sz="800" b="1">
                <a:solidFill>
                  <a:srgbClr val="0F2742"/>
                </a:solidFill>
                <a:latin typeface="Arial"/>
                <a:cs typeface="Arial"/>
              </a:rPr>
              <a:t>ОБРАЗОВАНИЕ</a:t>
            </a:r>
            <a:endParaRPr lang="ru-RU" sz="800"/>
          </a:p>
          <a:p>
            <a:pPr marL="0" indent="0">
              <a:buNone/>
            </a:pPr>
            <a:r>
              <a:rPr lang="ru-RU" sz="650">
                <a:solidFill>
                  <a:srgbClr val="4B5563"/>
                </a:solidFill>
                <a:latin typeface="Arial"/>
                <a:cs typeface="Arial"/>
              </a:rPr>
              <a:t>[Образование] · [Executive-программы / бизнес-школа, если релевантно] · [Языки]</a:t>
            </a:r>
            <a:endParaRPr lang="ru-RU" sz="6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2 title"/>
          <p:cNvSpPr txBox="1"/>
          <p:nvPr/>
        </p:nvSpPr>
        <p:spPr>
          <a:xfrm>
            <a:off x="396000" y="324000"/>
            <a:ext cx="6768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ru-RU" sz="1450" b="1">
                <a:solidFill>
                  <a:srgbClr val="0F2742"/>
                </a:solidFill>
                <a:latin typeface="Arial"/>
                <a:cs typeface="Arial"/>
              </a:rPr>
              <a:t>Избранный опыт и достижения</a:t>
            </a:r>
            <a:endParaRPr lang="ru-RU" sz="1450"/>
          </a:p>
        </p:txBody>
      </p:sp>
      <p:sp>
        <p:nvSpPr>
          <p:cNvPr id="3" name="slide2 line"/>
          <p:cNvSpPr/>
          <p:nvPr/>
        </p:nvSpPr>
        <p:spPr>
          <a:xfrm>
            <a:off x="396000" y="756000"/>
            <a:ext cx="6768000" cy="36000"/>
          </a:xfrm>
          <a:prstGeom prst="rect">
            <a:avLst/>
          </a:prstGeom>
          <a:solidFill>
            <a:srgbClr val="0F2742"/>
          </a:solidFill>
          <a:ln>
            <a:noFill/>
          </a:ln>
        </p:spPr>
      </p:sp>
      <p:sp>
        <p:nvSpPr>
          <p:cNvPr id="10" name="ФК Банк Открытие"/>
          <p:cNvSpPr txBox="1"/>
          <p:nvPr/>
        </p:nvSpPr>
        <p:spPr>
          <a:xfrm>
            <a:off x="396000" y="972000"/>
            <a:ext cx="6768000" cy="399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ru-RU" sz="1150" b="1">
                <a:solidFill>
                  <a:srgbClr val="0F2742"/>
                </a:solidFill>
                <a:latin typeface="Arial"/>
                <a:cs typeface="Arial"/>
              </a:rPr>
              <a:t>ФК Банк Открытие</a:t>
            </a:r>
            <a:endParaRPr lang="ru-RU" sz="1150"/>
          </a:p>
          <a:p>
            <a:pPr marL="0" indent="0">
              <a:buNone/>
            </a:pPr>
            <a:r>
              <a:rPr lang="ru-RU" sz="710" b="1">
                <a:solidFill>
                  <a:srgbClr val="56616F"/>
                </a:solidFill>
                <a:latin typeface="Arial"/>
                <a:cs typeface="Arial"/>
              </a:rPr>
              <a:t>Пассивный и расчетный бизнес, клиентская база, миграции, Agile-трансформация, кризисное управление · [должность] · [период]</a:t>
            </a:r>
            <a:endParaRPr lang="ru-RU" sz="710"/>
          </a:p>
          <a:p>
            <a:pPr marL="0" indent="0">
              <a:buNone/>
            </a:pPr>
            <a:r>
              <a:rPr lang="ru-RU" sz="700">
                <a:solidFill>
                  <a:srgbClr val="1F2933"/>
                </a:solidFill>
                <a:latin typeface="Arial"/>
                <a:cs typeface="Arial"/>
              </a:rPr>
              <a:t>Мандат: запуск и развитие пассивного и расчетного бизнеса, управление продуктовой линейкой и клиентской базой, реализация крупных технологических и организационных изменений.</a:t>
            </a:r>
            <a:endParaRPr lang="ru-RU" sz="700"/>
          </a:p>
          <a:p>
            <a:pPr marL="180000" indent="-85000">
              <a:buChar char="•"/>
            </a:pPr>
            <a:r>
              <a:rPr lang="ru-RU" sz="645">
                <a:solidFill>
                  <a:srgbClr val="1F2933"/>
                </a:solidFill>
                <a:latin typeface="Arial"/>
                <a:cs typeface="Arial"/>
              </a:rPr>
              <a:t>Запустил пассивный и расчетный бизнес: депозитные, инвестиционные и страховые продукты, дебетовые карты, зарплатные проекты.</a:t>
            </a:r>
            <a:endParaRPr lang="ru-RU" sz="645"/>
          </a:p>
          <a:p>
            <a:pPr marL="180000" indent="-85000">
              <a:buChar char="•"/>
            </a:pPr>
            <a:r>
              <a:rPr lang="ru-RU" sz="645">
                <a:solidFill>
                  <a:srgbClr val="1F2933"/>
                </a:solidFill>
                <a:latin typeface="Arial"/>
                <a:cs typeface="Arial"/>
              </a:rPr>
              <a:t>При переходе к доходной бизнес-модели и ухудшении ценовых параметров продуктового ряда увеличил активную клиентскую базу на 11% до 2,1 млн клиентов.</a:t>
            </a:r>
            <a:endParaRPr lang="ru-RU" sz="645"/>
          </a:p>
          <a:p>
            <a:pPr marL="180000" indent="-85000">
              <a:buChar char="•"/>
            </a:pPr>
            <a:r>
              <a:rPr lang="ru-RU" sz="645">
                <a:solidFill>
                  <a:srgbClr val="1F2933"/>
                </a:solidFill>
                <a:latin typeface="Arial"/>
                <a:cs typeface="Arial"/>
              </a:rPr>
              <a:t>Улучшил качество клиентского сегмента: AUM +35%, транзакционный отток сокращен в 3 раза, РКО выведено на самоокупаемость.</a:t>
            </a:r>
            <a:endParaRPr lang="ru-RU" sz="645"/>
          </a:p>
          <a:p>
            <a:pPr marL="180000" indent="-85000">
              <a:buChar char="•"/>
            </a:pPr>
            <a:r>
              <a:rPr lang="ru-RU" sz="645">
                <a:solidFill>
                  <a:srgbClr val="1F2933"/>
                </a:solidFill>
                <a:latin typeface="Arial"/>
                <a:cs typeface="Arial"/>
              </a:rPr>
              <a:t>Обеспечил итоговую рыночную позицию N5 по портфелю пассивов и активной клиентской базе, +3 п.п.</a:t>
            </a:r>
            <a:endParaRPr lang="ru-RU" sz="645"/>
          </a:p>
          <a:p>
            <a:pPr marL="180000" indent="-85000">
              <a:buChar char="•"/>
            </a:pPr>
            <a:r>
              <a:rPr lang="ru-RU" sz="645">
                <a:solidFill>
                  <a:srgbClr val="1F2933"/>
                </a:solidFill>
                <a:latin typeface="Arial"/>
                <a:cs typeface="Arial"/>
              </a:rPr>
              <a:t>Провел бизнес- и технологическую миграцию 1,5 млн клиентов на разных продуктовых линейках и 8 процессингах без клиентского оттока.</a:t>
            </a:r>
            <a:endParaRPr lang="ru-RU" sz="645"/>
          </a:p>
          <a:p>
            <a:pPr marL="180000" indent="-85000">
              <a:buChar char="•"/>
            </a:pPr>
            <a:r>
              <a:rPr lang="ru-RU" sz="645">
                <a:solidFill>
                  <a:srgbClr val="1F2933"/>
                </a:solidFill>
                <a:latin typeface="Arial"/>
                <a:cs typeface="Arial"/>
              </a:rPr>
              <a:t>Организовал переход структуры управления и разработки на Agile: создание трайбов и запуск управления IT-командами в новой модели.</a:t>
            </a:r>
            <a:endParaRPr lang="ru-RU" sz="645"/>
          </a:p>
          <a:p>
            <a:pPr marL="180000" indent="-85000">
              <a:buChar char="•"/>
            </a:pPr>
            <a:r>
              <a:rPr lang="ru-RU" sz="645">
                <a:solidFill>
                  <a:srgbClr val="1F2933"/>
                </a:solidFill>
                <a:latin typeface="Arial"/>
                <a:cs typeface="Arial"/>
              </a:rPr>
              <a:t>Управлял первой волной SDN: отключение платежных систем и международных расчетов, синхронизация подразделений банка и регулятора, клиентские коммуникации в условиях отсутствия процедур.</a:t>
            </a:r>
            <a:endParaRPr lang="ru-RU" sz="645"/>
          </a:p>
          <a:p>
            <a:pPr marL="180000" indent="-85000">
              <a:buChar char="•"/>
            </a:pPr>
            <a:r>
              <a:rPr lang="ru-RU" sz="645">
                <a:solidFill>
                  <a:srgbClr val="1F2933"/>
                </a:solidFill>
                <a:latin typeface="Arial"/>
                <a:cs typeface="Arial"/>
              </a:rPr>
              <a:t>Урегулировал требования к платежным системам, изменил правила логистики и персонализации карт, управлял стоками пластика в условиях дефицита чипов.</a:t>
            </a:r>
            <a:endParaRPr lang="ru-RU" sz="645"/>
          </a:p>
        </p:txBody>
      </p:sp>
      <p:sp>
        <p:nvSpPr>
          <p:cNvPr id="11" name="ВТБ / ВТБ24"/>
          <p:cNvSpPr txBox="1"/>
          <p:nvPr/>
        </p:nvSpPr>
        <p:spPr>
          <a:xfrm>
            <a:off x="396000" y="5220000"/>
            <a:ext cx="6768000" cy="37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ru-RU" sz="1150" b="1">
                <a:solidFill>
                  <a:srgbClr val="0F2742"/>
                </a:solidFill>
                <a:latin typeface="Arial"/>
                <a:cs typeface="Arial"/>
              </a:rPr>
              <a:t>ВТБ / ВТБ24</a:t>
            </a:r>
            <a:endParaRPr lang="ru-RU" sz="1150"/>
          </a:p>
          <a:p>
            <a:pPr marL="0" indent="0">
              <a:buNone/>
            </a:pPr>
            <a:r>
              <a:rPr lang="ru-RU" sz="710" b="1">
                <a:solidFill>
                  <a:srgbClr val="56616F"/>
                </a:solidFill>
                <a:latin typeface="Arial"/>
                <a:cs typeface="Arial"/>
              </a:rPr>
              <a:t>Дебетовые карты, расчетные продукты, автокредитование, процессинг, федеральные программы · [должность] · [период]</a:t>
            </a:r>
            <a:endParaRPr lang="ru-RU" sz="710"/>
          </a:p>
          <a:p>
            <a:pPr marL="0" indent="0">
              <a:buNone/>
            </a:pPr>
            <a:r>
              <a:rPr lang="ru-RU" sz="700">
                <a:solidFill>
                  <a:srgbClr val="1F2933"/>
                </a:solidFill>
                <a:latin typeface="Arial"/>
                <a:cs typeface="Arial"/>
              </a:rPr>
              <a:t>Мандат: запуск новых розничных направлений, рост активной клиентской базы, трансформация карточных и расчетных продуктов, управление федеральными и технологическими программами.</a:t>
            </a:r>
            <a:endParaRPr lang="ru-RU" sz="700"/>
          </a:p>
          <a:p>
            <a:pPr marL="180000" indent="-85000">
              <a:buChar char="•"/>
            </a:pPr>
            <a:r>
              <a:rPr lang="ru-RU" sz="645">
                <a:solidFill>
                  <a:srgbClr val="1F2933"/>
                </a:solidFill>
                <a:latin typeface="Arial"/>
                <a:cs typeface="Arial"/>
              </a:rPr>
              <a:t>Запустил автокредитование как самостоятельное бизнес-направление со stand-alone моделью, собственной и партнерской сетью дистрибуции.</a:t>
            </a:r>
            <a:endParaRPr lang="ru-RU" sz="645"/>
          </a:p>
          <a:p>
            <a:pPr marL="180000" indent="-85000">
              <a:buChar char="•"/>
            </a:pPr>
            <a:r>
              <a:rPr lang="ru-RU" sz="645">
                <a:solidFill>
                  <a:srgbClr val="1F2933"/>
                </a:solidFill>
                <a:latin typeface="Arial"/>
                <a:cs typeface="Arial"/>
              </a:rPr>
              <a:t>Направление обеспечило приток 25% клиентов розничного бизнеса, из них 88% NTB; бизнес вышел в прибыль на 36-й месяц; итоговая позиция - N1 по кредитному портфелю.</a:t>
            </a:r>
            <a:endParaRPr lang="ru-RU" sz="645"/>
          </a:p>
          <a:p>
            <a:pPr marL="180000" indent="-85000">
              <a:buChar char="•"/>
            </a:pPr>
            <a:r>
              <a:rPr lang="ru-RU" sz="645">
                <a:solidFill>
                  <a:srgbClr val="1F2933"/>
                </a:solidFill>
                <a:latin typeface="Arial"/>
                <a:cs typeface="Arial"/>
              </a:rPr>
              <a:t>Скорректировал стратегию дебетовых карт и расчетных продуктов под рост активной клиентской базы: определил инструменты и стоимость привлечения, нашел источники финансирования.</a:t>
            </a:r>
            <a:endParaRPr lang="ru-RU" sz="645"/>
          </a:p>
          <a:p>
            <a:pPr marL="180000" indent="-85000">
              <a:buChar char="•"/>
            </a:pPr>
            <a:r>
              <a:rPr lang="ru-RU" sz="645">
                <a:solidFill>
                  <a:srgbClr val="1F2933"/>
                </a:solidFill>
                <a:latin typeface="Arial"/>
                <a:cs typeface="Arial"/>
              </a:rPr>
              <a:t>Реализовал продуктовые, маркетинговые и дистрибуционные изменения одновременно с масштабной IT-трансформацией.</a:t>
            </a:r>
            <a:endParaRPr lang="ru-RU" sz="645"/>
          </a:p>
          <a:p>
            <a:pPr marL="180000" indent="-85000">
              <a:buChar char="•"/>
            </a:pPr>
            <a:r>
              <a:rPr lang="ru-RU" sz="645">
                <a:solidFill>
                  <a:srgbClr val="1F2933"/>
                </a:solidFill>
                <a:latin typeface="Arial"/>
                <a:cs typeface="Arial"/>
              </a:rPr>
              <a:t>Достиг рыночной позиции N2 по активной клиентской базе: 25 млн клиентов, рост +25% YoY.</a:t>
            </a:r>
            <a:endParaRPr lang="ru-RU" sz="645"/>
          </a:p>
          <a:p>
            <a:pPr marL="180000" indent="-85000">
              <a:buChar char="•"/>
            </a:pPr>
            <a:r>
              <a:rPr lang="ru-RU" sz="645">
                <a:solidFill>
                  <a:srgbClr val="1F2933"/>
                </a:solidFill>
                <a:latin typeface="Arial"/>
                <a:cs typeface="Arial"/>
              </a:rPr>
              <a:t>Провел импортозамещение и бесшовную замену процессинга для 20 млн действующих клиентов без простоя в операциях.</a:t>
            </a:r>
            <a:endParaRPr lang="ru-RU" sz="645"/>
          </a:p>
          <a:p>
            <a:pPr marL="180000" indent="-85000">
              <a:buChar char="•"/>
            </a:pPr>
            <a:r>
              <a:rPr lang="ru-RU" sz="645">
                <a:solidFill>
                  <a:srgbClr val="1F2933"/>
                </a:solidFill>
                <a:latin typeface="Arial"/>
                <a:cs typeface="Arial"/>
              </a:rPr>
              <a:t>Возглавил федеральный проект по миграции 2 млн детей с Пушкинскими картами за 8 месяцев: концепция, продукт, процесс миграции, интеграции с регулятором, нормативная база и бесшовное переключение.</a:t>
            </a:r>
            <a:endParaRPr lang="ru-RU" sz="645"/>
          </a:p>
        </p:txBody>
      </p:sp>
      <p:sp>
        <p:nvSpPr>
          <p:cNvPr id="90" name="bottom line"/>
          <p:cNvSpPr/>
          <p:nvPr/>
        </p:nvSpPr>
        <p:spPr>
          <a:xfrm>
            <a:off x="396000" y="9180000"/>
            <a:ext cx="6768000" cy="90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91" name="reading note"/>
          <p:cNvSpPr txBox="1"/>
          <p:nvPr/>
        </p:nvSpPr>
        <p:spPr>
          <a:xfrm>
            <a:off x="396000" y="9288000"/>
            <a:ext cx="6768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ru-RU" sz="650">
                <a:solidFill>
                  <a:srgbClr val="667085"/>
                </a:solidFill>
                <a:latin typeface="Arial"/>
                <a:cs typeface="Arial"/>
              </a:rPr>
              <a:t>Публичные награды, интервью и внешние ссылки не вынесены отдельным блоком: для C-level резюме здесь сильнее работают измеримые бизнес-результаты, масштаб ответственности и сложность реализованных изменений. При появлении релевантных публичных материалов их можно добавить одной строкой в контакты или дополнительную информацию.</a:t>
            </a:r>
            <a:endParaRPr lang="ru-RU" sz="6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ume Theme">
  <a:themeElements>
    <a:clrScheme name="Resume">
      <a:dk1>
        <a:srgbClr val="1F2933"/>
      </a:dk1>
      <a:lt1>
        <a:srgbClr val="FFFFFF"/>
      </a:lt1>
      <a:dk2>
        <a:srgbClr val="0F2742"/>
      </a:dk2>
      <a:lt2>
        <a:srgbClr val="F8FAFC"/>
      </a:lt2>
      <a:accent1>
        <a:srgbClr val="173A5E"/>
      </a:accent1>
      <a:accent2>
        <a:srgbClr val="0F4778"/>
      </a:accent2>
      <a:accent3>
        <a:srgbClr val="D7DEE8"/>
      </a:accent3>
      <a:accent4>
        <a:srgbClr val="E8F1FB"/>
      </a:accent4>
      <a:accent5>
        <a:srgbClr val="667085"/>
      </a:accent5>
      <a:accent6>
        <a:srgbClr val="4B5563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cs typeface="Arial"/>
      </a:majorFont>
      <a:minorFont>
        <a:latin typeface="Arial"/>
        <a:cs typeface="Arial"/>
      </a:minorFont>
    </a:fontScheme>
    <a:fmtScheme name="Resum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A4 Portrait</PresentationFormat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C-level fintech resume</dc:title>
  <dc:creator>Cursor</dc:creator>
  <cp:lastModifiedBy>Cursor</cp:lastModifiedBy>
</cp:coreProperties>
</file>