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7560000" cy="10692000" type="custom"/>
  <p:notesSz cx="6858000" cy="9144000"/>
  <p:defaultTextStyle>
    <a:defPPr>
      <a:defRPr lang="ru-RU" sz="760">
        <a:latin typeface="Arial"/>
        <a:cs typeface="Arial"/>
      </a:defRPr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396000" y="288000"/>
            <a:ext cx="41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2050" b="1">
                <a:solidFill>
                  <a:srgbClr val="0F2742"/>
                </a:solidFill>
                <a:latin typeface="Arial"/>
                <a:cs typeface="Arial"/>
              </a:rPr>
              <a:t>Яна Тимофеева</a:t>
            </a:r>
            <a:endParaRPr lang="ru-RU" sz="2050"/>
          </a:p>
        </p:txBody>
      </p:sp>
      <p:sp>
        <p:nvSpPr>
          <p:cNvPr id="3" name="contacts"/>
          <p:cNvSpPr txBox="1"/>
          <p:nvPr/>
        </p:nvSpPr>
        <p:spPr>
          <a:xfrm>
            <a:off x="4860000" y="288000"/>
            <a:ext cx="2304000" cy="4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00">
                <a:solidFill>
                  <a:srgbClr val="4B5563"/>
                </a:solidFill>
                <a:latin typeface="Arial"/>
                <a:cs typeface="Arial"/>
              </a:rPr>
              <a:t>Москва · +7 (903) 725-82-18</a:t>
            </a:r>
            <a:endParaRPr lang="ru-RU" sz="700"/>
          </a:p>
          <a:p>
            <a:pPr>
              <a:buNone/>
            </a:pPr>
            <a:r>
              <a:rPr lang="ru-RU" sz="700">
                <a:solidFill>
                  <a:srgbClr val="4B5563"/>
                </a:solidFill>
                <a:latin typeface="Arial"/>
                <a:cs typeface="Arial"/>
              </a:rPr>
              <a:t>ia.timofeeva@yandex.ru</a:t>
            </a:r>
            <a:endParaRPr lang="ru-RU" sz="700"/>
          </a:p>
        </p:txBody>
      </p:sp>
      <p:sp>
        <p:nvSpPr>
          <p:cNvPr id="4" name="line"/>
          <p:cNvSpPr/>
          <p:nvPr/>
        </p:nvSpPr>
        <p:spPr>
          <a:xfrm>
            <a:off x="396000" y="792000"/>
            <a:ext cx="6768000" cy="36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5" name="headline"/>
          <p:cNvSpPr txBox="1"/>
          <p:nvPr/>
        </p:nvSpPr>
        <p:spPr>
          <a:xfrm>
            <a:off x="396000" y="900000"/>
            <a:ext cx="6768000" cy="50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980" b="1">
                <a:solidFill>
                  <a:srgbClr val="173A5E"/>
                </a:solidFill>
                <a:latin typeface="Arial"/>
                <a:cs typeface="Arial"/>
              </a:rPr>
              <a:t>C-level лидер | розничный банкинг, финтех и платежная инфраструктура</a:t>
            </a:r>
            <a:endParaRPr lang="ru-RU" sz="980"/>
          </a:p>
          <a:p>
            <a:pPr>
              <a:buNone/>
            </a:pPr>
            <a:r>
              <a:rPr lang="ru-RU" sz="720">
                <a:solidFill>
                  <a:srgbClr val="4B5563"/>
                </a:solidFill>
                <a:latin typeface="Arial"/>
                <a:cs typeface="Arial"/>
              </a:rPr>
              <a:t>BUILD / TRANSFORM / LEAD: запуск бизнес-направлений, трансформация продуктовых моделей, управление крупными программами изменений</a:t>
            </a:r>
            <a:endParaRPr lang="ru-RU" sz="720"/>
          </a:p>
        </p:txBody>
      </p:sp>
      <p:sp>
        <p:nvSpPr>
          <p:cNvPr id="6" name="profile title"/>
          <p:cNvSpPr txBox="1"/>
          <p:nvPr/>
        </p:nvSpPr>
        <p:spPr>
          <a:xfrm>
            <a:off x="396000" y="1512000"/>
            <a:ext cx="6768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00" b="1">
                <a:solidFill>
                  <a:srgbClr val="0F2742"/>
                </a:solidFill>
                <a:latin typeface="Arial"/>
                <a:cs typeface="Arial"/>
              </a:rPr>
              <a:t>ПРОФИЛЬ</a:t>
            </a:r>
            <a:endParaRPr lang="ru-RU" sz="800"/>
          </a:p>
        </p:txBody>
      </p:sp>
      <p:sp>
        <p:nvSpPr>
          <p:cNvPr id="7" name="u"/>
          <p:cNvSpPr/>
          <p:nvPr/>
        </p:nvSpPr>
        <p:spPr>
          <a:xfrm>
            <a:off x="396000" y="1764000"/>
            <a:ext cx="676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8" name="profile body"/>
          <p:cNvSpPr txBox="1"/>
          <p:nvPr/>
        </p:nvSpPr>
        <p:spPr>
          <a:xfrm>
            <a:off x="396000" y="1872000"/>
            <a:ext cx="676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60">
                <a:solidFill>
                  <a:srgbClr val="1F2933"/>
                </a:solidFill>
                <a:latin typeface="Arial"/>
                <a:cs typeface="Arial"/>
              </a:rPr>
              <a:t>Бизнес-лидер с 20+ годами опыта в крупнейших финансовых организациях России. Отвечаю за розничные направления, запуск новых продуктов, клиентский рост, партнерскую дистрибуцию, технологические миграции и федеральные проекты на стыке бизнеса, IT, операций, маркетинга, продаж и регуляторного контура.</a:t>
            </a:r>
            <a:endParaRPr lang="ru-RU" sz="660"/>
          </a:p>
          <a:p>
            <a:pPr>
              <a:buNone/>
            </a:pPr>
            <a:r>
              <a:rPr lang="ru-RU" sz="660">
                <a:solidFill>
                  <a:srgbClr val="1F2933"/>
                </a:solidFill>
                <a:latin typeface="Arial"/>
                <a:cs typeface="Arial"/>
              </a:rPr>
              <a:t>Моя ценность - быстро соединить стратегию, экономику продукта, операционную модель и delivery в измеримый результат.</a:t>
            </a:r>
            <a:endParaRPr lang="ru-RU" sz="660"/>
          </a:p>
        </p:txBody>
      </p:sp>
      <p:sp>
        <p:nvSpPr>
          <p:cNvPr id="40" name="focus title"/>
          <p:cNvSpPr txBox="1"/>
          <p:nvPr/>
        </p:nvSpPr>
        <p:spPr>
          <a:xfrm>
            <a:off x="396000" y="2808000"/>
            <a:ext cx="4464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90" b="1">
                <a:solidFill>
                  <a:srgbClr val="0F2742"/>
                </a:solidFill>
                <a:latin typeface="Arial"/>
                <a:cs typeface="Arial"/>
              </a:rPr>
              <a:t>УПРАВЛЕНЧЕСКИЙ ФОКУС И ПРИМЕРЫ</a:t>
            </a:r>
            <a:endParaRPr lang="ru-RU" sz="790"/>
          </a:p>
        </p:txBody>
      </p:sp>
      <p:sp>
        <p:nvSpPr>
          <p:cNvPr id="41" name="fu"/>
          <p:cNvSpPr/>
          <p:nvPr/>
        </p:nvSpPr>
        <p:spPr>
          <a:xfrm>
            <a:off x="396000" y="3060000"/>
            <a:ext cx="4464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50" name="BUILD - запуск самостоятельных бизнес-направлений"/>
          <p:cNvSpPr txBox="1"/>
          <p:nvPr/>
        </p:nvSpPr>
        <p:spPr>
          <a:xfrm>
            <a:off x="396000" y="3204000"/>
            <a:ext cx="4464000" cy="2052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4500" tIns="14500" rIns="14500" bIns="14500"/>
          <a:lstStyle/>
          <a:p>
            <a:pPr>
              <a:buNone/>
            </a:pPr>
            <a:r>
              <a:rPr lang="ru-RU" sz="660" b="1">
                <a:solidFill>
                  <a:srgbClr val="173A5E"/>
                </a:solidFill>
                <a:latin typeface="Arial"/>
                <a:cs typeface="Arial"/>
              </a:rPr>
              <a:t>BUILD - запуск самостоятельных бизнес-направлений</a:t>
            </a:r>
            <a:endParaRPr lang="ru-RU" sz="660"/>
          </a:p>
          <a:p>
            <a:pPr>
              <a:buNone/>
            </a:pPr>
            <a:r>
              <a:rPr lang="ru-RU" sz="545">
                <a:solidFill>
                  <a:srgbClr val="344054"/>
                </a:solidFill>
                <a:latin typeface="Arial"/>
                <a:cs typeface="Arial"/>
              </a:rPr>
              <a:t>Запуск направления с нуля: рынок, бизнес-модель, продуктовый ряд, каналы продаж, партнерства и экономика окупаемости.</a:t>
            </a:r>
            <a:endParaRPr lang="ru-RU" sz="545"/>
          </a:p>
        </p:txBody>
      </p:sp>
      <p:sp>
        <p:nvSpPr>
          <p:cNvPr id="200" name="metric"/>
          <p:cNvSpPr txBox="1"/>
          <p:nvPr/>
        </p:nvSpPr>
        <p:spPr>
          <a:xfrm>
            <a:off x="504000" y="367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АКБ +11%</a:t>
            </a:r>
            <a:endParaRPr lang="ru-RU" sz="600"/>
          </a:p>
        </p:txBody>
      </p:sp>
      <p:sp>
        <p:nvSpPr>
          <p:cNvPr id="201" name="metric"/>
          <p:cNvSpPr txBox="1"/>
          <p:nvPr/>
        </p:nvSpPr>
        <p:spPr>
          <a:xfrm>
            <a:off x="1116000" y="367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2,1 млн</a:t>
            </a:r>
            <a:endParaRPr lang="ru-RU" sz="600"/>
          </a:p>
        </p:txBody>
      </p:sp>
      <p:sp>
        <p:nvSpPr>
          <p:cNvPr id="202" name="metric"/>
          <p:cNvSpPr txBox="1"/>
          <p:nvPr/>
        </p:nvSpPr>
        <p:spPr>
          <a:xfrm>
            <a:off x="1728000" y="367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AUM +35%</a:t>
            </a:r>
            <a:endParaRPr lang="ru-RU" sz="600"/>
          </a:p>
        </p:txBody>
      </p:sp>
      <p:sp>
        <p:nvSpPr>
          <p:cNvPr id="203" name="metric"/>
          <p:cNvSpPr txBox="1"/>
          <p:nvPr/>
        </p:nvSpPr>
        <p:spPr>
          <a:xfrm>
            <a:off x="2340000" y="3672000"/>
            <a:ext cx="7056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№1 / 88% NTB</a:t>
            </a:r>
            <a:endParaRPr lang="ru-RU" sz="600"/>
          </a:p>
        </p:txBody>
      </p:sp>
      <p:sp>
        <p:nvSpPr>
          <p:cNvPr id="204" name="metric"/>
          <p:cNvSpPr txBox="1"/>
          <p:nvPr/>
        </p:nvSpPr>
        <p:spPr>
          <a:xfrm>
            <a:off x="3117600" y="367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36 месяц</a:t>
            </a:r>
            <a:endParaRPr lang="ru-RU" sz="600"/>
          </a:p>
        </p:txBody>
      </p:sp>
      <p:sp>
        <p:nvSpPr>
          <p:cNvPr id="205" name="ФК Банк ОТКРЫТИЕ"/>
          <p:cNvSpPr txBox="1"/>
          <p:nvPr/>
        </p:nvSpPr>
        <p:spPr>
          <a:xfrm>
            <a:off x="504000" y="3931200"/>
            <a:ext cx="4248000" cy="450000"/>
          </a:xfrm>
          <a:prstGeom prst="roundRect">
            <a:avLst/>
          </a:prstGeom>
          <a:solidFill>
            <a:srgbClr val="EEF6FF"/>
          </a:solidFill>
          <a:ln w="6350">
            <a:solidFill>
              <a:srgbClr val="EEF6FF"/>
            </a:solidFill>
          </a:ln>
        </p:spPr>
        <p:txBody>
          <a:bodyPr wrap="square" lIns="9000" tIns="9000" rIns="9000" bIns="9000"/>
          <a:lstStyle/>
          <a:p>
            <a:pPr>
              <a:buNone/>
            </a:pPr>
            <a:r>
              <a:rPr lang="ru-RU" sz="435" b="1">
                <a:solidFill>
                  <a:srgbClr val="0F2742"/>
                </a:solidFill>
                <a:latin typeface="Arial"/>
                <a:cs typeface="Arial"/>
              </a:rPr>
              <a:t>ФК Банк ОТКРЫТИЕ: </a:t>
            </a:r>
            <a:r>
              <a:rPr lang="ru-RU" sz="435">
                <a:solidFill>
                  <a:srgbClr val="173A5E"/>
                </a:solidFill>
                <a:latin typeface="Arial"/>
                <a:cs typeface="Arial"/>
              </a:rPr>
              <a:t>запуск пассивного и расчетного бизнеса. При смене бизнес-модели на доходный бизнес удалось нарастить АКБ на 11% до 2,1 млн. клиентов; AUM +35%, отток в 3 раза ниже, РКО на самоокупаемости. Итоговая позиция: №5 (+3пп) по портфелю пассивов и АКБ</a:t>
            </a:r>
            <a:endParaRPr lang="ru-RU" sz="435"/>
          </a:p>
        </p:txBody>
      </p:sp>
      <p:sp>
        <p:nvSpPr>
          <p:cNvPr id="206" name="ВТБ24"/>
          <p:cNvSpPr txBox="1"/>
          <p:nvPr/>
        </p:nvSpPr>
        <p:spPr>
          <a:xfrm>
            <a:off x="504000" y="4417200"/>
            <a:ext cx="4248000" cy="450000"/>
          </a:xfrm>
          <a:prstGeom prst="roundRect">
            <a:avLst/>
          </a:prstGeom>
          <a:solidFill>
            <a:srgbClr val="EEF6FF"/>
          </a:solidFill>
          <a:ln w="6350">
            <a:solidFill>
              <a:srgbClr val="EEF6FF"/>
            </a:solidFill>
          </a:ln>
        </p:spPr>
        <p:txBody>
          <a:bodyPr wrap="square" lIns="9000" tIns="9000" rIns="9000" bIns="9000"/>
          <a:lstStyle/>
          <a:p>
            <a:pPr>
              <a:buNone/>
            </a:pPr>
            <a:r>
              <a:rPr lang="ru-RU" sz="435" b="1">
                <a:solidFill>
                  <a:srgbClr val="0F2742"/>
                </a:solidFill>
                <a:latin typeface="Arial"/>
                <a:cs typeface="Arial"/>
              </a:rPr>
              <a:t>ВТБ24: </a:t>
            </a:r>
            <a:r>
              <a:rPr lang="ru-RU" sz="435">
                <a:solidFill>
                  <a:srgbClr val="173A5E"/>
                </a:solidFill>
                <a:latin typeface="Arial"/>
                <a:cs typeface="Arial"/>
              </a:rPr>
              <a:t>Запуск Автокредитования. Stand-alone бизнес-модель с собственной и партнерской сетью дистрибуции: 25% клиентов розничного бизнеса, 88% NTB, прибыль с 36 месяца, позиция №1 по кредитному портфелю</a:t>
            </a:r>
            <a:endParaRPr lang="ru-RU" sz="435"/>
          </a:p>
        </p:txBody>
      </p:sp>
      <p:sp>
        <p:nvSpPr>
          <p:cNvPr id="51" name="TRANSFORM - корректировка существующей модели"/>
          <p:cNvSpPr txBox="1"/>
          <p:nvPr/>
        </p:nvSpPr>
        <p:spPr>
          <a:xfrm>
            <a:off x="396000" y="5436000"/>
            <a:ext cx="4464000" cy="1908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4500" tIns="14500" rIns="14500" bIns="14500"/>
          <a:lstStyle/>
          <a:p>
            <a:pPr>
              <a:buNone/>
            </a:pPr>
            <a:r>
              <a:rPr lang="ru-RU" sz="660" b="1">
                <a:solidFill>
                  <a:srgbClr val="173A5E"/>
                </a:solidFill>
                <a:latin typeface="Arial"/>
                <a:cs typeface="Arial"/>
              </a:rPr>
              <a:t>TRANSFORM - корректировка существующей модели</a:t>
            </a:r>
            <a:endParaRPr lang="ru-RU" sz="660"/>
          </a:p>
          <a:p>
            <a:pPr>
              <a:buNone/>
            </a:pPr>
            <a:r>
              <a:rPr lang="ru-RU" sz="545">
                <a:solidFill>
                  <a:srgbClr val="344054"/>
                </a:solidFill>
                <a:latin typeface="Arial"/>
                <a:cs typeface="Arial"/>
              </a:rPr>
              <a:t>Пересборка стратегии, экономики привлечения, продукта, дистрибуции, IT и операционной модели в работающем контуре банка.</a:t>
            </a:r>
            <a:endParaRPr lang="ru-RU" sz="545"/>
          </a:p>
        </p:txBody>
      </p:sp>
      <p:sp>
        <p:nvSpPr>
          <p:cNvPr id="207" name="metric"/>
          <p:cNvSpPr txBox="1"/>
          <p:nvPr/>
        </p:nvSpPr>
        <p:spPr>
          <a:xfrm>
            <a:off x="504000" y="5904000"/>
            <a:ext cx="5652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№2 по АКБ</a:t>
            </a:r>
            <a:endParaRPr lang="ru-RU" sz="600"/>
          </a:p>
        </p:txBody>
      </p:sp>
      <p:sp>
        <p:nvSpPr>
          <p:cNvPr id="208" name="metric"/>
          <p:cNvSpPr txBox="1"/>
          <p:nvPr/>
        </p:nvSpPr>
        <p:spPr>
          <a:xfrm>
            <a:off x="1141200" y="5904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25 млн</a:t>
            </a:r>
            <a:endParaRPr lang="ru-RU" sz="600"/>
          </a:p>
        </p:txBody>
      </p:sp>
      <p:sp>
        <p:nvSpPr>
          <p:cNvPr id="209" name="metric"/>
          <p:cNvSpPr txBox="1"/>
          <p:nvPr/>
        </p:nvSpPr>
        <p:spPr>
          <a:xfrm>
            <a:off x="1753200" y="5904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+25% YoY</a:t>
            </a:r>
            <a:endParaRPr lang="ru-RU" sz="600"/>
          </a:p>
        </p:txBody>
      </p:sp>
      <p:sp>
        <p:nvSpPr>
          <p:cNvPr id="210" name="metric"/>
          <p:cNvSpPr txBox="1"/>
          <p:nvPr/>
        </p:nvSpPr>
        <p:spPr>
          <a:xfrm>
            <a:off x="2365200" y="5904000"/>
            <a:ext cx="8928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IT-трансформация</a:t>
            </a:r>
            <a:endParaRPr lang="ru-RU" sz="600"/>
          </a:p>
        </p:txBody>
      </p:sp>
      <p:sp>
        <p:nvSpPr>
          <p:cNvPr id="211" name="ВТБ Дебетовые карты и расчетные продукты"/>
          <p:cNvSpPr txBox="1"/>
          <p:nvPr/>
        </p:nvSpPr>
        <p:spPr>
          <a:xfrm>
            <a:off x="504000" y="6163200"/>
            <a:ext cx="4248000" cy="450000"/>
          </a:xfrm>
          <a:prstGeom prst="roundRect">
            <a:avLst/>
          </a:prstGeom>
          <a:solidFill>
            <a:srgbClr val="EEF6FF"/>
          </a:solidFill>
          <a:ln w="6350">
            <a:solidFill>
              <a:srgbClr val="EEF6FF"/>
            </a:solidFill>
          </a:ln>
        </p:spPr>
        <p:txBody>
          <a:bodyPr wrap="square" lIns="9000" tIns="9000" rIns="9000" bIns="9000"/>
          <a:lstStyle/>
          <a:p>
            <a:pPr>
              <a:buNone/>
            </a:pPr>
            <a:r>
              <a:rPr lang="ru-RU" sz="435" b="1">
                <a:solidFill>
                  <a:srgbClr val="0F2742"/>
                </a:solidFill>
                <a:latin typeface="Arial"/>
                <a:cs typeface="Arial"/>
              </a:rPr>
              <a:t>ВТБ Дебетовые карты и расчетные продукты: </a:t>
            </a:r>
            <a:r>
              <a:rPr lang="ru-RU" sz="435">
                <a:solidFill>
                  <a:srgbClr val="173A5E"/>
                </a:solidFill>
                <a:latin typeface="Arial"/>
                <a:cs typeface="Arial"/>
              </a:rPr>
              <a:t>Скорректирована стратегия под наращивание клиентской базы, определены инструменты и стоимость привлечения, найдены источники финансирования. Внедрены продуктовые, маркетинговые, дистрибуционные изменения одновременно с масштабной ИТ-трансформацией. Итоговая позиция: №2 по АКБ, 25 млн. клиентов, рост +25% YoY</a:t>
            </a:r>
            <a:endParaRPr lang="ru-RU" sz="435"/>
          </a:p>
        </p:txBody>
      </p:sp>
      <p:sp>
        <p:nvSpPr>
          <p:cNvPr id="52" name="LEAD - сложные программы с большим количеством участников"/>
          <p:cNvSpPr txBox="1"/>
          <p:nvPr/>
        </p:nvSpPr>
        <p:spPr>
          <a:xfrm>
            <a:off x="396000" y="7524000"/>
            <a:ext cx="4464000" cy="2196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14500" tIns="14500" rIns="14500" bIns="14500"/>
          <a:lstStyle/>
          <a:p>
            <a:pPr>
              <a:buNone/>
            </a:pPr>
            <a:r>
              <a:rPr lang="ru-RU" sz="660" b="1">
                <a:solidFill>
                  <a:srgbClr val="173A5E"/>
                </a:solidFill>
                <a:latin typeface="Arial"/>
                <a:cs typeface="Arial"/>
              </a:rPr>
              <a:t>LEAD - сложные программы с большим количеством участников</a:t>
            </a:r>
            <a:endParaRPr lang="ru-RU" sz="660"/>
          </a:p>
          <a:p>
            <a:pPr>
              <a:buNone/>
            </a:pPr>
            <a:r>
              <a:rPr lang="ru-RU" sz="545">
                <a:solidFill>
                  <a:srgbClr val="344054"/>
                </a:solidFill>
                <a:latin typeface="Arial"/>
                <a:cs typeface="Arial"/>
              </a:rPr>
              <a:t>Синхронизация бизнеса, IT, операций, продаж, маркетинга, регулятора и внешних партнеров вокруг результата.</a:t>
            </a:r>
            <a:endParaRPr lang="ru-RU" sz="545"/>
          </a:p>
        </p:txBody>
      </p:sp>
      <p:sp>
        <p:nvSpPr>
          <p:cNvPr id="212" name="metric"/>
          <p:cNvSpPr txBox="1"/>
          <p:nvPr/>
        </p:nvSpPr>
        <p:spPr>
          <a:xfrm>
            <a:off x="504000" y="7992000"/>
            <a:ext cx="6588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1,5 млн / 8</a:t>
            </a:r>
            <a:endParaRPr lang="ru-RU" sz="600"/>
          </a:p>
        </p:txBody>
      </p:sp>
      <p:sp>
        <p:nvSpPr>
          <p:cNvPr id="213" name="metric"/>
          <p:cNvSpPr txBox="1"/>
          <p:nvPr/>
        </p:nvSpPr>
        <p:spPr>
          <a:xfrm>
            <a:off x="1234800" y="799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20 млн</a:t>
            </a:r>
            <a:endParaRPr lang="ru-RU" sz="600"/>
          </a:p>
        </p:txBody>
      </p:sp>
      <p:sp>
        <p:nvSpPr>
          <p:cNvPr id="214" name="metric"/>
          <p:cNvSpPr txBox="1"/>
          <p:nvPr/>
        </p:nvSpPr>
        <p:spPr>
          <a:xfrm>
            <a:off x="1846800" y="7992000"/>
            <a:ext cx="7992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2 млн / 8 мес.</a:t>
            </a:r>
            <a:endParaRPr lang="ru-RU" sz="600"/>
          </a:p>
        </p:txBody>
      </p:sp>
      <p:sp>
        <p:nvSpPr>
          <p:cNvPr id="215" name="metric"/>
          <p:cNvSpPr txBox="1"/>
          <p:nvPr/>
        </p:nvSpPr>
        <p:spPr>
          <a:xfrm>
            <a:off x="2718000" y="799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SDN</a:t>
            </a:r>
            <a:endParaRPr lang="ru-RU" sz="600"/>
          </a:p>
        </p:txBody>
      </p:sp>
      <p:sp>
        <p:nvSpPr>
          <p:cNvPr id="216" name="metric"/>
          <p:cNvSpPr txBox="1"/>
          <p:nvPr/>
        </p:nvSpPr>
        <p:spPr>
          <a:xfrm>
            <a:off x="3330000" y="7992000"/>
            <a:ext cx="540000" cy="208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2000" tIns="12000" rIns="12000" bIns="12000"/>
          <a:lstStyle/>
          <a:p>
            <a:pPr>
              <a:buNone/>
            </a:pPr>
            <a:r>
              <a:rPr lang="ru-RU" sz="600" b="1">
                <a:solidFill>
                  <a:srgbClr val="0F4778"/>
                </a:solidFill>
                <a:latin typeface="Arial"/>
                <a:cs typeface="Arial"/>
              </a:rPr>
              <a:t>Agile</a:t>
            </a:r>
            <a:endParaRPr lang="ru-RU" sz="600"/>
          </a:p>
        </p:txBody>
      </p:sp>
      <p:sp>
        <p:nvSpPr>
          <p:cNvPr id="217" name="ФК Банк Открытие"/>
          <p:cNvSpPr txBox="1"/>
          <p:nvPr/>
        </p:nvSpPr>
        <p:spPr>
          <a:xfrm>
            <a:off x="504000" y="8251200"/>
            <a:ext cx="4248000" cy="450000"/>
          </a:xfrm>
          <a:prstGeom prst="roundRect">
            <a:avLst/>
          </a:prstGeom>
          <a:solidFill>
            <a:srgbClr val="EEF6FF"/>
          </a:solidFill>
          <a:ln w="6350">
            <a:solidFill>
              <a:srgbClr val="EEF6FF"/>
            </a:solidFill>
          </a:ln>
        </p:spPr>
        <p:txBody>
          <a:bodyPr wrap="square" lIns="9000" tIns="9000" rIns="9000" bIns="9000"/>
          <a:lstStyle/>
          <a:p>
            <a:pPr>
              <a:buNone/>
            </a:pPr>
            <a:r>
              <a:rPr lang="ru-RU" sz="435" b="1">
                <a:solidFill>
                  <a:srgbClr val="0F2742"/>
                </a:solidFill>
                <a:latin typeface="Arial"/>
                <a:cs typeface="Arial"/>
              </a:rPr>
              <a:t>ФК Банк Открытие: </a:t>
            </a:r>
            <a:r>
              <a:rPr lang="ru-RU" sz="435">
                <a:solidFill>
                  <a:srgbClr val="173A5E"/>
                </a:solidFill>
                <a:latin typeface="Arial"/>
                <a:cs typeface="Arial"/>
              </a:rPr>
              <a:t>Бизнес и технологическая миграция 1.5 млн. клиентов на различных продуктовых линейках на 8 процессингах без оттока; переход на Agile и создание Трайбов; управление первой волной SDN.</a:t>
            </a:r>
            <a:endParaRPr lang="ru-RU" sz="435"/>
          </a:p>
        </p:txBody>
      </p:sp>
      <p:sp>
        <p:nvSpPr>
          <p:cNvPr id="218" name="ВТБ"/>
          <p:cNvSpPr txBox="1"/>
          <p:nvPr/>
        </p:nvSpPr>
        <p:spPr>
          <a:xfrm>
            <a:off x="504000" y="8737200"/>
            <a:ext cx="4248000" cy="450000"/>
          </a:xfrm>
          <a:prstGeom prst="roundRect">
            <a:avLst/>
          </a:prstGeom>
          <a:solidFill>
            <a:srgbClr val="EEF6FF"/>
          </a:solidFill>
          <a:ln w="6350">
            <a:solidFill>
              <a:srgbClr val="EEF6FF"/>
            </a:solidFill>
          </a:ln>
        </p:spPr>
        <p:txBody>
          <a:bodyPr wrap="square" lIns="9000" tIns="9000" rIns="9000" bIns="9000"/>
          <a:lstStyle/>
          <a:p>
            <a:pPr>
              <a:buNone/>
            </a:pPr>
            <a:r>
              <a:rPr lang="ru-RU" sz="435" b="1">
                <a:solidFill>
                  <a:srgbClr val="0F2742"/>
                </a:solidFill>
                <a:latin typeface="Arial"/>
                <a:cs typeface="Arial"/>
              </a:rPr>
              <a:t>ВТБ: </a:t>
            </a:r>
            <a:r>
              <a:rPr lang="ru-RU" sz="435">
                <a:solidFill>
                  <a:srgbClr val="173A5E"/>
                </a:solidFill>
                <a:latin typeface="Arial"/>
                <a:cs typeface="Arial"/>
              </a:rPr>
              <a:t>Импортозамещение и бесшовная замена процессинга для 20 млн действующих клиентов без простоя; федеральный проект миграции 2 млн детей с Пушкинскими картами за 8 месяцев.</a:t>
            </a:r>
            <a:endParaRPr lang="ru-RU" sz="435"/>
          </a:p>
        </p:txBody>
      </p:sp>
      <p:sp>
        <p:nvSpPr>
          <p:cNvPr id="70" name="roles title"/>
          <p:cNvSpPr txBox="1"/>
          <p:nvPr/>
        </p:nvSpPr>
        <p:spPr>
          <a:xfrm>
            <a:off x="5112000" y="2808000"/>
            <a:ext cx="205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70" b="1">
                <a:solidFill>
                  <a:srgbClr val="0F2742"/>
                </a:solidFill>
                <a:latin typeface="Arial"/>
                <a:cs typeface="Arial"/>
              </a:rPr>
              <a:t>ЦЕЛЕВЫЕ РОЛИ</a:t>
            </a:r>
            <a:endParaRPr lang="ru-RU" sz="770"/>
          </a:p>
        </p:txBody>
      </p:sp>
      <p:sp>
        <p:nvSpPr>
          <p:cNvPr id="71" name="ru"/>
          <p:cNvSpPr/>
          <p:nvPr/>
        </p:nvSpPr>
        <p:spPr>
          <a:xfrm>
            <a:off x="5112000" y="3060000"/>
            <a:ext cx="2052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72" name="roles body"/>
          <p:cNvSpPr txBox="1"/>
          <p:nvPr/>
        </p:nvSpPr>
        <p:spPr>
          <a:xfrm>
            <a:off x="5112000" y="3204000"/>
            <a:ext cx="2052000" cy="14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Chief Business Officer / Chief Product Officer / Chief Operating Officer / Head of Retail Banking / Managing Director по розничному бизнесу, продуктам, платежам, клиентским платформам или трансформации финансового бизнеса.</a:t>
            </a:r>
            <a:endParaRPr lang="ru-RU" sz="590"/>
          </a:p>
        </p:txBody>
      </p:sp>
      <p:sp>
        <p:nvSpPr>
          <p:cNvPr id="73" name="expert title"/>
          <p:cNvSpPr txBox="1"/>
          <p:nvPr/>
        </p:nvSpPr>
        <p:spPr>
          <a:xfrm>
            <a:off x="5112000" y="4896000"/>
            <a:ext cx="2052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70" b="1">
                <a:solidFill>
                  <a:srgbClr val="0F2742"/>
                </a:solidFill>
                <a:latin typeface="Arial"/>
                <a:cs typeface="Arial"/>
              </a:rPr>
              <a:t>ЗОНЫ ЭКСПЕРТИЗЫ</a:t>
            </a:r>
            <a:endParaRPr lang="ru-RU" sz="770"/>
          </a:p>
        </p:txBody>
      </p:sp>
      <p:sp>
        <p:nvSpPr>
          <p:cNvPr id="74" name="eu"/>
          <p:cNvSpPr/>
          <p:nvPr/>
        </p:nvSpPr>
        <p:spPr>
          <a:xfrm>
            <a:off x="5112000" y="5148000"/>
            <a:ext cx="2052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75" name="expert note"/>
          <p:cNvSpPr txBox="1"/>
          <p:nvPr/>
        </p:nvSpPr>
        <p:spPr>
          <a:xfrm>
            <a:off x="5112000" y="5256000"/>
            <a:ext cx="2052000" cy="46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40">
                <a:solidFill>
                  <a:srgbClr val="667085"/>
                </a:solidFill>
                <a:latin typeface="Arial"/>
                <a:cs typeface="Arial"/>
              </a:rPr>
              <a:t>Уровень вовлеченности в областях с hands-on управленческим опытом.</a:t>
            </a:r>
            <a:endParaRPr lang="ru-RU" sz="540"/>
          </a:p>
        </p:txBody>
      </p:sp>
      <p:sp>
        <p:nvSpPr>
          <p:cNvPr id="80" name="bar label"/>
          <p:cNvSpPr txBox="1"/>
          <p:nvPr/>
        </p:nvSpPr>
        <p:spPr>
          <a:xfrm>
            <a:off x="5112000" y="5760000"/>
            <a:ext cx="2052000" cy="17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Retail business and P&amp;L</a:t>
            </a: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570"/>
          </a:p>
        </p:txBody>
      </p:sp>
      <p:sp>
        <p:nvSpPr>
          <p:cNvPr id="81" name="bar bg"/>
          <p:cNvSpPr/>
          <p:nvPr/>
        </p:nvSpPr>
        <p:spPr>
          <a:xfrm>
            <a:off x="5112000" y="5932800"/>
            <a:ext cx="2052000" cy="864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2" name="bar fill"/>
          <p:cNvSpPr/>
          <p:nvPr/>
        </p:nvSpPr>
        <p:spPr>
          <a:xfrm>
            <a:off x="5112000" y="5932800"/>
            <a:ext cx="2052000" cy="864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3" name="bar label"/>
          <p:cNvSpPr txBox="1"/>
          <p:nvPr/>
        </p:nvSpPr>
        <p:spPr>
          <a:xfrm>
            <a:off x="5112000" y="6300000"/>
            <a:ext cx="2052000" cy="17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Products and growth</a:t>
            </a: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570"/>
          </a:p>
        </p:txBody>
      </p:sp>
      <p:sp>
        <p:nvSpPr>
          <p:cNvPr id="84" name="bar bg"/>
          <p:cNvSpPr/>
          <p:nvPr/>
        </p:nvSpPr>
        <p:spPr>
          <a:xfrm>
            <a:off x="5112000" y="6472800"/>
            <a:ext cx="2052000" cy="864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5" name="bar fill"/>
          <p:cNvSpPr/>
          <p:nvPr/>
        </p:nvSpPr>
        <p:spPr>
          <a:xfrm>
            <a:off x="5112000" y="6472800"/>
            <a:ext cx="2052000" cy="864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6" name="bar label"/>
          <p:cNvSpPr txBox="1"/>
          <p:nvPr/>
        </p:nvSpPr>
        <p:spPr>
          <a:xfrm>
            <a:off x="5112000" y="6840000"/>
            <a:ext cx="2052000" cy="17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Channels and partnerships</a:t>
            </a: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 100%</a:t>
            </a:r>
            <a:endParaRPr lang="ru-RU" sz="570"/>
          </a:p>
        </p:txBody>
      </p:sp>
      <p:sp>
        <p:nvSpPr>
          <p:cNvPr id="87" name="bar bg"/>
          <p:cNvSpPr/>
          <p:nvPr/>
        </p:nvSpPr>
        <p:spPr>
          <a:xfrm>
            <a:off x="5112000" y="7012800"/>
            <a:ext cx="2052000" cy="864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88" name="bar fill"/>
          <p:cNvSpPr/>
          <p:nvPr/>
        </p:nvSpPr>
        <p:spPr>
          <a:xfrm>
            <a:off x="5112000" y="7012800"/>
            <a:ext cx="2052000" cy="864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89" name="bar label"/>
          <p:cNvSpPr txBox="1"/>
          <p:nvPr/>
        </p:nvSpPr>
        <p:spPr>
          <a:xfrm>
            <a:off x="5112000" y="7380000"/>
            <a:ext cx="2052000" cy="17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Technology and delivery</a:t>
            </a: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 80%</a:t>
            </a:r>
            <a:endParaRPr lang="ru-RU" sz="570"/>
          </a:p>
        </p:txBody>
      </p:sp>
      <p:sp>
        <p:nvSpPr>
          <p:cNvPr id="90" name="bar bg"/>
          <p:cNvSpPr/>
          <p:nvPr/>
        </p:nvSpPr>
        <p:spPr>
          <a:xfrm>
            <a:off x="5112000" y="7552800"/>
            <a:ext cx="2052000" cy="864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91" name="bar fill"/>
          <p:cNvSpPr/>
          <p:nvPr/>
        </p:nvSpPr>
        <p:spPr>
          <a:xfrm>
            <a:off x="5112000" y="7552800"/>
            <a:ext cx="1641600" cy="864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92" name="bar label"/>
          <p:cNvSpPr txBox="1"/>
          <p:nvPr/>
        </p:nvSpPr>
        <p:spPr>
          <a:xfrm>
            <a:off x="5112000" y="7920000"/>
            <a:ext cx="2052000" cy="17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Regulatory</a:t>
            </a:r>
            <a:r>
              <a:rPr lang="ru-RU" sz="570" b="1">
                <a:solidFill>
                  <a:srgbClr val="173A5E"/>
                </a:solidFill>
                <a:latin typeface="Arial"/>
                <a:cs typeface="Arial"/>
              </a:rPr>
              <a:t> 70%</a:t>
            </a:r>
            <a:endParaRPr lang="ru-RU" sz="570"/>
          </a:p>
        </p:txBody>
      </p:sp>
      <p:sp>
        <p:nvSpPr>
          <p:cNvPr id="93" name="bar bg"/>
          <p:cNvSpPr/>
          <p:nvPr/>
        </p:nvSpPr>
        <p:spPr>
          <a:xfrm>
            <a:off x="5112000" y="8092800"/>
            <a:ext cx="2052000" cy="86400"/>
          </a:xfrm>
          <a:prstGeom prst="rect">
            <a:avLst/>
          </a:prstGeom>
          <a:solidFill>
            <a:srgbClr val="EDF2F7"/>
          </a:solidFill>
          <a:ln>
            <a:noFill/>
          </a:ln>
        </p:spPr>
      </p:sp>
      <p:sp>
        <p:nvSpPr>
          <p:cNvPr id="94" name="bar fill"/>
          <p:cNvSpPr/>
          <p:nvPr/>
        </p:nvSpPr>
        <p:spPr>
          <a:xfrm>
            <a:off x="5112000" y="8092800"/>
            <a:ext cx="1436400" cy="86400"/>
          </a:xfrm>
          <a:prstGeom prst="rect">
            <a:avLst/>
          </a:prstGeom>
          <a:solidFill>
            <a:srgbClr val="0F4778"/>
          </a:solidFill>
          <a:ln>
            <a:noFill/>
          </a:ln>
        </p:spPr>
      </p:sp>
      <p:sp>
        <p:nvSpPr>
          <p:cNvPr id="100" name="edu"/>
          <p:cNvSpPr txBox="1"/>
          <p:nvPr/>
        </p:nvSpPr>
        <p:spPr>
          <a:xfrm>
            <a:off x="5112000" y="8568000"/>
            <a:ext cx="2052000" cy="12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60" b="1">
                <a:solidFill>
                  <a:srgbClr val="0F2742"/>
                </a:solidFill>
                <a:latin typeface="Arial"/>
                <a:cs typeface="Arial"/>
              </a:rPr>
              <a:t>ОБРАЗОВАНИЕ И ЯЗЫКИ</a:t>
            </a:r>
            <a:endParaRPr lang="ru-RU" sz="760"/>
          </a:p>
          <a:p>
            <a:pPr>
              <a:buNone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МГОУ, Москва, 1998
Менеджмент и экономическая политика
Русский - родной · Английский - C2
Испанский - базовый</a:t>
            </a:r>
            <a:endParaRPr lang="ru-RU" sz="59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96000" y="288000"/>
            <a:ext cx="676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400" b="1">
                <a:solidFill>
                  <a:srgbClr val="0F2742"/>
                </a:solidFill>
                <a:latin typeface="Arial"/>
                <a:cs typeface="Arial"/>
              </a:rPr>
              <a:t>Избранный опыт и достижения</a:t>
            </a:r>
            <a:endParaRPr lang="ru-RU" sz="1400"/>
          </a:p>
        </p:txBody>
      </p:sp>
      <p:sp>
        <p:nvSpPr>
          <p:cNvPr id="3" name="line"/>
          <p:cNvSpPr/>
          <p:nvPr/>
        </p:nvSpPr>
        <p:spPr>
          <a:xfrm>
            <a:off x="396000" y="720000"/>
            <a:ext cx="6768000" cy="36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10" name="ВТБ"/>
          <p:cNvSpPr txBox="1"/>
          <p:nvPr/>
        </p:nvSpPr>
        <p:spPr>
          <a:xfrm>
            <a:off x="396000" y="936000"/>
            <a:ext cx="6768000" cy="2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ВТБ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Дебетовые карты, расчетные продукты, процессинг, федеральные программы · [актуальная должность и период после 2022 - уточнить]</a:t>
            </a:r>
            <a:endParaRPr lang="ru-RU" sz="64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Скорректировала стратегию дебетовых карт и расчетных продуктов под рост активной клиентской базы; определены инструменты привлечения и источники финансирования.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Продуктовые, маркетинговые и дистрибуционные изменения реализованы одновременно с масштабной IT-трансформацией.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Позиция N2 по активной клиентской базе: 25 млн клиентов, рост +25% YoY.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Бесшовная замена процессинга для 20 млн клиентов без простоя в операциях.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Миграция 2 млн детей с Пушкинскими картами за 8 месяцев: концепция, продукт, интеграции с регулятором, нормативная база и переключение.</a:t>
            </a:r>
            <a:endParaRPr lang="ru-RU" sz="590"/>
          </a:p>
        </p:txBody>
      </p:sp>
      <p:sp>
        <p:nvSpPr>
          <p:cNvPr id="11" name="ФК Банк Открытие"/>
          <p:cNvSpPr txBox="1"/>
          <p:nvPr/>
        </p:nvSpPr>
        <p:spPr>
          <a:xfrm>
            <a:off x="396000" y="3672000"/>
            <a:ext cx="6768000" cy="30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ФК Банк Открытие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Лидер Трайба Ежедневный Банкинг / Директор департамента · Январь 2021 - после декабря 2022; Февраль 2018 - Декабрь 2020</a:t>
            </a:r>
            <a:endParaRPr lang="ru-RU" sz="64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Ежедневный банкинг: дебетовые и зарплатные карты, РКО; рост клиентской базы через daily-потребности клиентов.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Ресурс 170 человек, 12 бизнес-команд; KPI: АКБ, продажи/портфель, P&amp;L, CIR, pNPS, MAU/DAU.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Пассивный и расчетный бизнес: депозиты, накопительные счета, карты, платежи и переводы, страховые, сервисные и инвестиционные продукты.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АКБ +11% до 2,1 млн клиентов; AUM +35%, транзакционный отток сокращен в 3 раза, РКО на самоокупаемости.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Миграция 1,5 млн клиентов на 8 процессингах без оттока; переход структуры управления и разработки на Agile.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Frank RG: лучшая дебетовая карта 2021 - N1, Premium Light 2022 - N1, лучший банк для премиальных клиентов 2022 - N2.</a:t>
            </a:r>
            <a:endParaRPr lang="ru-RU" sz="590"/>
          </a:p>
        </p:txBody>
      </p:sp>
      <p:sp>
        <p:nvSpPr>
          <p:cNvPr id="12" name="ВТБ / ВТБ24"/>
          <p:cNvSpPr txBox="1"/>
          <p:nvPr/>
        </p:nvSpPr>
        <p:spPr>
          <a:xfrm>
            <a:off x="396000" y="6912000"/>
            <a:ext cx="6768000" cy="28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ВТБ / ВТБ24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Сберегательные и комиссионные продукты; автобизнес и автокредитование · Февраль 2017 - Январь 2018; Декабрь 2005 - Октябрь 2015</a:t>
            </a:r>
            <a:endParaRPr lang="ru-RU" sz="64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В Банке ВТБ управляла розничным портфелем сберегательных и комиссионных продуктов: стратегия, портфели/продажи/доходы, продуктовые предложения, модели продаж, мотивация и партнерства.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В ВТБ24 запустила автокредитование как самостоятельное бизнес-направление со stand-alone моделью и партнерской сетью дистрибуции.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25% притока клиентов розничного бизнеса, 88% NTB; прибыль с 36-го месяца; позиция N1 по кредитному портфелю.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40 человек прямого подчинения, 1500 функционально в региональной сети, 600+ точек продаж.</a:t>
            </a:r>
            <a:endParaRPr lang="ru-RU" sz="590"/>
          </a:p>
          <a:p>
            <a:pPr marL="125000" indent="-6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Продуктовая модель: 10+ продуктов, 300+ программ, 1,5 тыс. промо-акций; портфель 70 млрд руб., исполнение плана прибыли 93-104%.</a:t>
            </a:r>
            <a:endParaRPr lang="ru-RU" sz="590"/>
          </a:p>
        </p:txBody>
      </p:sp>
      <p:sp>
        <p:nvSpPr>
          <p:cNvPr id="90" name="bottom"/>
          <p:cNvSpPr/>
          <p:nvPr/>
        </p:nvSpPr>
        <p:spPr>
          <a:xfrm>
            <a:off x="396000" y="9504000"/>
            <a:ext cx="676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91" name="note"/>
          <p:cNvSpPr txBox="1"/>
          <p:nvPr/>
        </p:nvSpPr>
        <p:spPr>
          <a:xfrm>
            <a:off x="396000" y="9612000"/>
            <a:ext cx="676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00">
                <a:solidFill>
                  <a:srgbClr val="667085"/>
                </a:solidFill>
                <a:latin typeface="Arial"/>
                <a:cs typeface="Arial"/>
              </a:rPr>
              <a:t>Старое CV использовано для уточнения опыта до 2022 года. Актуальную должность и период последнего места работы стоит заменить в первом блоке ВТБ перед отправкой.</a:t>
            </a:r>
            <a:endParaRPr lang="ru-RU" sz="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ume Theme">
  <a:themeElements>
    <a:clrScheme name="Resume">
      <a:dk1>
        <a:srgbClr val="1F2933"/>
      </a:dk1>
      <a:lt1>
        <a:srgbClr val="FFFFFF"/>
      </a:lt1>
      <a:dk2>
        <a:srgbClr val="0F2742"/>
      </a:dk2>
      <a:lt2>
        <a:srgbClr val="F8FAFC"/>
      </a:lt2>
      <a:accent1>
        <a:srgbClr val="173A5E"/>
      </a:accent1>
      <a:accent2>
        <a:srgbClr val="0F4778"/>
      </a:accent2>
      <a:accent3>
        <a:srgbClr val="D7DEE8"/>
      </a:accent3>
      <a:accent4>
        <a:srgbClr val="E8F1FB"/>
      </a:accent4>
      <a:accent5>
        <a:srgbClr val="667085"/>
      </a:accent5>
      <a:accent6>
        <a:srgbClr val="4B5563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cs typeface="Arial"/>
      </a:majorFont>
      <a:minorFont>
        <a:latin typeface="Arial"/>
        <a:cs typeface="Arial"/>
      </a:minorFont>
    </a:fontScheme>
    <a:fmtScheme name="Resum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A4 Portrait</PresentationFormat>
  <Slides>2</Slides>
</Properties>
</file>

<file path=docProps/core.xml><?xml version="1.0" encoding="utf-8"?>
<cp:coreProperties xmlns:cp="http://schemas.openxmlformats.org/package/2006/metadata/core-properties" xmlns:dc="http://purl.org/dc/elements/1.1/">
  <dc:title>C-level fintech resume</dc:title>
  <dc:creator>Cursor</dc:creator>
</cp:coreProperties>
</file>