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7560000" cy="10692000" type="custom"/>
  <p:notesSz cx="6858000" cy="9144000"/>
  <p:defaultTextStyle>
    <a:defPPr>
      <a:defRPr lang="ru-RU" sz="760">
        <a:latin typeface="Arial"/>
        <a:cs typeface="Arial"/>
      </a:defRPr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396000" y="288000"/>
            <a:ext cx="41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2050" b="1">
                <a:solidFill>
                  <a:srgbClr val="0F2742"/>
                </a:solidFill>
                <a:latin typeface="Arial"/>
                <a:cs typeface="Arial"/>
              </a:rPr>
              <a:t>Яна Тимофеева</a:t>
            </a:r>
            <a:endParaRPr lang="ru-RU" sz="2050"/>
          </a:p>
        </p:txBody>
      </p:sp>
      <p:sp>
        <p:nvSpPr>
          <p:cNvPr id="3" name="contacts"/>
          <p:cNvSpPr txBox="1"/>
          <p:nvPr/>
        </p:nvSpPr>
        <p:spPr>
          <a:xfrm>
            <a:off x="4860000" y="288000"/>
            <a:ext cx="230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20">
                <a:solidFill>
                  <a:srgbClr val="4B5563"/>
                </a:solidFill>
                <a:latin typeface="Arial"/>
                <a:cs typeface="Arial"/>
              </a:rPr>
              <a:t>Москва · +7 (903) 725-82-18</a:t>
            </a:r>
            <a:endParaRPr lang="ru-RU" sz="720"/>
          </a:p>
          <a:p>
            <a:pPr>
              <a:buNone/>
            </a:pPr>
            <a:r>
              <a:rPr lang="ru-RU" sz="720">
                <a:solidFill>
                  <a:srgbClr val="4B5563"/>
                </a:solidFill>
                <a:latin typeface="Arial"/>
                <a:cs typeface="Arial"/>
              </a:rPr>
              <a:t>ia.timofeeva@yandex.ru</a:t>
            </a:r>
            <a:endParaRPr lang="ru-RU" sz="720"/>
          </a:p>
        </p:txBody>
      </p:sp>
      <p:sp>
        <p:nvSpPr>
          <p:cNvPr id="4" name="line"/>
          <p:cNvSpPr/>
          <p:nvPr/>
        </p:nvSpPr>
        <p:spPr>
          <a:xfrm>
            <a:off x="396000" y="792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5" name="headline"/>
          <p:cNvSpPr txBox="1"/>
          <p:nvPr/>
        </p:nvSpPr>
        <p:spPr>
          <a:xfrm>
            <a:off x="396000" y="900000"/>
            <a:ext cx="676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30" b="1">
                <a:solidFill>
                  <a:srgbClr val="173A5E"/>
                </a:solidFill>
                <a:latin typeface="Arial"/>
                <a:cs typeface="Arial"/>
              </a:rPr>
              <a:t>C-level лидер | розничный банкинг, финтех и платежная инфраструктура</a:t>
            </a:r>
            <a:endParaRPr lang="ru-RU" sz="1030"/>
          </a:p>
          <a:p>
            <a:pPr>
              <a:buNone/>
            </a:pPr>
            <a:r>
              <a:rPr lang="ru-RU" sz="760">
                <a:solidFill>
                  <a:srgbClr val="4B5563"/>
                </a:solidFill>
                <a:latin typeface="Arial"/>
                <a:cs typeface="Arial"/>
              </a:rPr>
              <a:t>BUILD / TRANSFORM / LEAD: запуск бизнес-направлений, трансформация продуктовых моделей, управление крупными программами изменений</a:t>
            </a:r>
            <a:endParaRPr lang="ru-RU" sz="760"/>
          </a:p>
        </p:txBody>
      </p:sp>
      <p:sp>
        <p:nvSpPr>
          <p:cNvPr id="6" name="profile title"/>
          <p:cNvSpPr txBox="1"/>
          <p:nvPr/>
        </p:nvSpPr>
        <p:spPr>
          <a:xfrm>
            <a:off x="396000" y="1584000"/>
            <a:ext cx="6768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ПРОФИЛЬ</a:t>
            </a:r>
            <a:endParaRPr lang="ru-RU" sz="820"/>
          </a:p>
        </p:txBody>
      </p:sp>
      <p:sp>
        <p:nvSpPr>
          <p:cNvPr id="7" name="u"/>
          <p:cNvSpPr/>
          <p:nvPr/>
        </p:nvSpPr>
        <p:spPr>
          <a:xfrm>
            <a:off x="396000" y="1836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8" name="profile body"/>
          <p:cNvSpPr txBox="1"/>
          <p:nvPr/>
        </p:nvSpPr>
        <p:spPr>
          <a:xfrm>
            <a:off x="396000" y="1944000"/>
            <a:ext cx="6768000" cy="9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20">
                <a:solidFill>
                  <a:srgbClr val="1F2933"/>
                </a:solidFill>
                <a:latin typeface="Arial"/>
                <a:cs typeface="Arial"/>
              </a:rPr>
              <a:t>Бизнес-лидер с 20+ годами опыта в крупнейших финансовых организациях России. Отвечаю за розничные направления, запуск новых продуктов, клиентский рост, партнерскую дистрибуцию, технологические миграции и федеральные проекты на стыке бизнеса, IT, операций, маркетинга, продаж и регуляторного контура.</a:t>
            </a:r>
            <a:endParaRPr lang="ru-RU" sz="720"/>
          </a:p>
          <a:p>
            <a:pPr>
              <a:buNone/>
            </a:pPr>
            <a:r>
              <a:rPr lang="ru-RU" sz="720">
                <a:solidFill>
                  <a:srgbClr val="1F2933"/>
                </a:solidFill>
                <a:latin typeface="Arial"/>
                <a:cs typeface="Arial"/>
              </a:rPr>
              <a:t>Моя ценность - быстро соединить стратегию, экономику продукта, операционную модель и delivery в измеримый результат без потери клиентского опыта.</a:t>
            </a:r>
            <a:endParaRPr lang="ru-RU" sz="720"/>
          </a:p>
        </p:txBody>
      </p:sp>
      <p:sp>
        <p:nvSpPr>
          <p:cNvPr id="40" name="focus title"/>
          <p:cNvSpPr txBox="1"/>
          <p:nvPr/>
        </p:nvSpPr>
        <p:spPr>
          <a:xfrm>
            <a:off x="396000" y="3132000"/>
            <a:ext cx="4464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УПРАВЛЕНЧЕСКИЙ ФОКУС</a:t>
            </a:r>
            <a:endParaRPr lang="ru-RU" sz="820"/>
          </a:p>
        </p:txBody>
      </p:sp>
      <p:sp>
        <p:nvSpPr>
          <p:cNvPr id="41" name="fu"/>
          <p:cNvSpPr/>
          <p:nvPr/>
        </p:nvSpPr>
        <p:spPr>
          <a:xfrm>
            <a:off x="396000" y="3384000"/>
            <a:ext cx="4464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50" name="BUILD - запуск самостоятельных бизнес-направлений"/>
          <p:cNvSpPr txBox="1"/>
          <p:nvPr/>
        </p:nvSpPr>
        <p:spPr>
          <a:xfrm>
            <a:off x="396000" y="3528000"/>
            <a:ext cx="4464000" cy="1764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8500" tIns="18500" rIns="18500" bIns="18500"/>
          <a:lstStyle/>
          <a:p>
            <a:pPr>
              <a:buNone/>
            </a:pPr>
            <a:r>
              <a:rPr lang="ru-RU" sz="740" b="1">
                <a:solidFill>
                  <a:srgbClr val="173A5E"/>
                </a:solidFill>
                <a:latin typeface="Arial"/>
                <a:cs typeface="Arial"/>
              </a:rPr>
              <a:t>BUILD - запуск самостоятельных бизнес-направлений</a:t>
            </a:r>
            <a:endParaRPr lang="ru-RU" sz="74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Определяю рынок, сегменты, бизнес-модель, стратегию, инвестиционную логику и окупаемость.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Формирую продуктовый ряд и клиентское предложение; развиваю каналы продаж, партнерства и дистрибуцию.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Собираю кросс-функциональную реализацию с бизнесом, продажами, маркетингом, продуктом, операциями и IT.</a:t>
            </a:r>
            <a:endParaRPr lang="ru-RU" sz="590"/>
          </a:p>
        </p:txBody>
      </p:sp>
      <p:sp>
        <p:nvSpPr>
          <p:cNvPr id="200" name="tag"/>
          <p:cNvSpPr txBox="1"/>
          <p:nvPr/>
        </p:nvSpPr>
        <p:spPr>
          <a:xfrm>
            <a:off x="504000" y="4752000"/>
            <a:ext cx="936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АКБ +11% до 2,1 млн</a:t>
            </a:r>
            <a:endParaRPr lang="ru-RU" sz="560"/>
          </a:p>
        </p:txBody>
      </p:sp>
      <p:sp>
        <p:nvSpPr>
          <p:cNvPr id="201" name="tag"/>
          <p:cNvSpPr txBox="1"/>
          <p:nvPr/>
        </p:nvSpPr>
        <p:spPr>
          <a:xfrm>
            <a:off x="1512000" y="4752000"/>
            <a:ext cx="720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AUM +35%</a:t>
            </a:r>
            <a:endParaRPr lang="ru-RU" sz="560"/>
          </a:p>
        </p:txBody>
      </p:sp>
      <p:sp>
        <p:nvSpPr>
          <p:cNvPr id="202" name="tag"/>
          <p:cNvSpPr txBox="1"/>
          <p:nvPr/>
        </p:nvSpPr>
        <p:spPr>
          <a:xfrm>
            <a:off x="2304000" y="4752000"/>
            <a:ext cx="792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отток - в 3 раза</a:t>
            </a:r>
            <a:endParaRPr lang="ru-RU" sz="560"/>
          </a:p>
        </p:txBody>
      </p:sp>
      <p:sp>
        <p:nvSpPr>
          <p:cNvPr id="203" name="tag"/>
          <p:cNvSpPr txBox="1"/>
          <p:nvPr/>
        </p:nvSpPr>
        <p:spPr>
          <a:xfrm>
            <a:off x="3168000" y="4752000"/>
            <a:ext cx="612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N5 +3 п.п.</a:t>
            </a:r>
            <a:endParaRPr lang="ru-RU" sz="560"/>
          </a:p>
        </p:txBody>
      </p:sp>
      <p:sp>
        <p:nvSpPr>
          <p:cNvPr id="204" name="tag"/>
          <p:cNvSpPr txBox="1"/>
          <p:nvPr/>
        </p:nvSpPr>
        <p:spPr>
          <a:xfrm>
            <a:off x="504000" y="4982400"/>
            <a:ext cx="936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N1 автокредиты</a:t>
            </a:r>
            <a:endParaRPr lang="ru-RU" sz="560"/>
          </a:p>
        </p:txBody>
      </p:sp>
      <p:sp>
        <p:nvSpPr>
          <p:cNvPr id="205" name="tag"/>
          <p:cNvSpPr txBox="1"/>
          <p:nvPr/>
        </p:nvSpPr>
        <p:spPr>
          <a:xfrm>
            <a:off x="1512000" y="4982400"/>
            <a:ext cx="540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88% NTB</a:t>
            </a:r>
            <a:endParaRPr lang="ru-RU" sz="560"/>
          </a:p>
        </p:txBody>
      </p:sp>
      <p:sp>
        <p:nvSpPr>
          <p:cNvPr id="51" name="TRANSFORM - корректировка модели"/>
          <p:cNvSpPr txBox="1"/>
          <p:nvPr/>
        </p:nvSpPr>
        <p:spPr>
          <a:xfrm>
            <a:off x="396000" y="5472000"/>
            <a:ext cx="4464000" cy="1764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8500" tIns="18500" rIns="18500" bIns="18500"/>
          <a:lstStyle/>
          <a:p>
            <a:pPr>
              <a:buNone/>
            </a:pPr>
            <a:r>
              <a:rPr lang="ru-RU" sz="740" b="1">
                <a:solidFill>
                  <a:srgbClr val="173A5E"/>
                </a:solidFill>
                <a:latin typeface="Arial"/>
                <a:cs typeface="Arial"/>
              </a:rPr>
              <a:t>TRANSFORM - корректировка модели</a:t>
            </a:r>
            <a:endParaRPr lang="ru-RU" sz="74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Диагностирую модель бизнеса и определяю изменения под новые цели роста и доходности.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Пересобираю стратегию, экономику привлечения, источники финансирования, продуктовые приоритеты и операционную модель.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Провожу изменения в работающем контуре банка: продукт, процессы, технологии, оргструктура и клиентский опыт.</a:t>
            </a:r>
            <a:endParaRPr lang="ru-RU" sz="590"/>
          </a:p>
        </p:txBody>
      </p:sp>
      <p:sp>
        <p:nvSpPr>
          <p:cNvPr id="206" name="tag"/>
          <p:cNvSpPr txBox="1"/>
          <p:nvPr/>
        </p:nvSpPr>
        <p:spPr>
          <a:xfrm>
            <a:off x="504000" y="6696000"/>
            <a:ext cx="828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25 млн клиентов</a:t>
            </a:r>
            <a:endParaRPr lang="ru-RU" sz="560"/>
          </a:p>
        </p:txBody>
      </p:sp>
      <p:sp>
        <p:nvSpPr>
          <p:cNvPr id="207" name="tag"/>
          <p:cNvSpPr txBox="1"/>
          <p:nvPr/>
        </p:nvSpPr>
        <p:spPr>
          <a:xfrm>
            <a:off x="1404000" y="6696000"/>
            <a:ext cx="756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+25% YoY</a:t>
            </a:r>
            <a:endParaRPr lang="ru-RU" sz="560"/>
          </a:p>
        </p:txBody>
      </p:sp>
      <p:sp>
        <p:nvSpPr>
          <p:cNvPr id="208" name="tag"/>
          <p:cNvSpPr txBox="1"/>
          <p:nvPr/>
        </p:nvSpPr>
        <p:spPr>
          <a:xfrm>
            <a:off x="2232000" y="6696000"/>
            <a:ext cx="612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N2 по АКБ</a:t>
            </a:r>
            <a:endParaRPr lang="ru-RU" sz="560"/>
          </a:p>
        </p:txBody>
      </p:sp>
      <p:sp>
        <p:nvSpPr>
          <p:cNvPr id="209" name="tag"/>
          <p:cNvSpPr txBox="1"/>
          <p:nvPr/>
        </p:nvSpPr>
        <p:spPr>
          <a:xfrm>
            <a:off x="2916000" y="6696000"/>
            <a:ext cx="1224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масштабная IT-трансформация</a:t>
            </a:r>
            <a:endParaRPr lang="ru-RU" sz="560"/>
          </a:p>
        </p:txBody>
      </p:sp>
      <p:sp>
        <p:nvSpPr>
          <p:cNvPr id="210" name="tag"/>
          <p:cNvSpPr txBox="1"/>
          <p:nvPr/>
        </p:nvSpPr>
        <p:spPr>
          <a:xfrm>
            <a:off x="504000" y="6926400"/>
            <a:ext cx="1008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P&amp;L / CIR / pNPS</a:t>
            </a:r>
            <a:endParaRPr lang="ru-RU" sz="560"/>
          </a:p>
        </p:txBody>
      </p:sp>
      <p:sp>
        <p:nvSpPr>
          <p:cNvPr id="52" name="LEAD - сложные программы"/>
          <p:cNvSpPr txBox="1"/>
          <p:nvPr/>
        </p:nvSpPr>
        <p:spPr>
          <a:xfrm>
            <a:off x="396000" y="7416000"/>
            <a:ext cx="4464000" cy="1764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8500" tIns="18500" rIns="18500" bIns="18500"/>
          <a:lstStyle/>
          <a:p>
            <a:pPr>
              <a:buNone/>
            </a:pPr>
            <a:r>
              <a:rPr lang="ru-RU" sz="740" b="1">
                <a:solidFill>
                  <a:srgbClr val="173A5E"/>
                </a:solidFill>
                <a:latin typeface="Arial"/>
                <a:cs typeface="Arial"/>
              </a:rPr>
              <a:t>LEAD - сложные программы</a:t>
            </a:r>
            <a:endParaRPr lang="ru-RU" sz="74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Формирую концепт, систему принятия решений и общие цели для бизнеса, IT, операций, продаж, маркетинга, регулятора и партнеров.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Организую Agile-команды и крупные delivery-программы; удерживаю результат в условиях высокой сложности.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Обеспечиваю бесшовность критичных изменений для клиентов и операционного контура.</a:t>
            </a:r>
            <a:endParaRPr lang="ru-RU" sz="590"/>
          </a:p>
        </p:txBody>
      </p:sp>
      <p:sp>
        <p:nvSpPr>
          <p:cNvPr id="211" name="tag"/>
          <p:cNvSpPr txBox="1"/>
          <p:nvPr/>
        </p:nvSpPr>
        <p:spPr>
          <a:xfrm>
            <a:off x="504000" y="8640000"/>
            <a:ext cx="1296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1,5 млн / 8 процессингов</a:t>
            </a:r>
            <a:endParaRPr lang="ru-RU" sz="560"/>
          </a:p>
        </p:txBody>
      </p:sp>
      <p:sp>
        <p:nvSpPr>
          <p:cNvPr id="212" name="tag"/>
          <p:cNvSpPr txBox="1"/>
          <p:nvPr/>
        </p:nvSpPr>
        <p:spPr>
          <a:xfrm>
            <a:off x="1872000" y="8640000"/>
            <a:ext cx="900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20 млн без простоя</a:t>
            </a:r>
            <a:endParaRPr lang="ru-RU" sz="560"/>
          </a:p>
        </p:txBody>
      </p:sp>
      <p:sp>
        <p:nvSpPr>
          <p:cNvPr id="213" name="tag"/>
          <p:cNvSpPr txBox="1"/>
          <p:nvPr/>
        </p:nvSpPr>
        <p:spPr>
          <a:xfrm>
            <a:off x="2844000" y="8640000"/>
            <a:ext cx="1044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2 млн детей / 8 мес.</a:t>
            </a:r>
            <a:endParaRPr lang="ru-RU" sz="560"/>
          </a:p>
        </p:txBody>
      </p:sp>
      <p:sp>
        <p:nvSpPr>
          <p:cNvPr id="214" name="tag"/>
          <p:cNvSpPr txBox="1"/>
          <p:nvPr/>
        </p:nvSpPr>
        <p:spPr>
          <a:xfrm>
            <a:off x="504000" y="8870400"/>
            <a:ext cx="1008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170 чел. / 12 команд</a:t>
            </a:r>
            <a:endParaRPr lang="ru-RU" sz="560"/>
          </a:p>
        </p:txBody>
      </p:sp>
      <p:sp>
        <p:nvSpPr>
          <p:cNvPr id="215" name="tag"/>
          <p:cNvSpPr txBox="1"/>
          <p:nvPr/>
        </p:nvSpPr>
        <p:spPr>
          <a:xfrm>
            <a:off x="1584000" y="8870400"/>
            <a:ext cx="648000" cy="2052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4000" tIns="14000" rIns="14000" bIns="14000"/>
          <a:lstStyle/>
          <a:p>
            <a:pPr>
              <a:buNone/>
            </a:pPr>
            <a:r>
              <a:rPr lang="ru-RU" sz="560" b="1">
                <a:solidFill>
                  <a:srgbClr val="0F4778"/>
                </a:solidFill>
                <a:latin typeface="Arial"/>
                <a:cs typeface="Arial"/>
              </a:rPr>
              <a:t>SDN-контур</a:t>
            </a:r>
            <a:endParaRPr lang="ru-RU" sz="560"/>
          </a:p>
        </p:txBody>
      </p:sp>
      <p:sp>
        <p:nvSpPr>
          <p:cNvPr id="70" name="roles title"/>
          <p:cNvSpPr txBox="1"/>
          <p:nvPr/>
        </p:nvSpPr>
        <p:spPr>
          <a:xfrm>
            <a:off x="5112000" y="3132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ЦЕЛЕВЫЕ РОЛИ</a:t>
            </a:r>
            <a:endParaRPr lang="ru-RU" sz="820"/>
          </a:p>
        </p:txBody>
      </p:sp>
      <p:sp>
        <p:nvSpPr>
          <p:cNvPr id="71" name="ru"/>
          <p:cNvSpPr/>
          <p:nvPr/>
        </p:nvSpPr>
        <p:spPr>
          <a:xfrm>
            <a:off x="5112000" y="3384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2" name="roles body"/>
          <p:cNvSpPr txBox="1"/>
          <p:nvPr/>
        </p:nvSpPr>
        <p:spPr>
          <a:xfrm>
            <a:off x="5112000" y="3528000"/>
            <a:ext cx="2052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30">
                <a:solidFill>
                  <a:srgbClr val="1F2933"/>
                </a:solidFill>
                <a:latin typeface="Arial"/>
                <a:cs typeface="Arial"/>
              </a:rPr>
              <a:t>Chief Business Officer / Chief Product Officer / Chief Operating Officer / Head of Retail Banking / Managing Director по розничному бизнесу, продуктам, платежам, клиентским платформам или трансформации финансового бизнеса.</a:t>
            </a:r>
            <a:endParaRPr lang="ru-RU" sz="630"/>
          </a:p>
        </p:txBody>
      </p:sp>
      <p:sp>
        <p:nvSpPr>
          <p:cNvPr id="73" name="expert title"/>
          <p:cNvSpPr txBox="1"/>
          <p:nvPr/>
        </p:nvSpPr>
        <p:spPr>
          <a:xfrm>
            <a:off x="5112000" y="5148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ЗОНЫ ЭКСПЕРТИЗЫ</a:t>
            </a:r>
            <a:endParaRPr lang="ru-RU" sz="820"/>
          </a:p>
        </p:txBody>
      </p:sp>
      <p:sp>
        <p:nvSpPr>
          <p:cNvPr id="74" name="eu"/>
          <p:cNvSpPr/>
          <p:nvPr/>
        </p:nvSpPr>
        <p:spPr>
          <a:xfrm>
            <a:off x="5112000" y="5400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5" name="expert note"/>
          <p:cNvSpPr txBox="1"/>
          <p:nvPr/>
        </p:nvSpPr>
        <p:spPr>
          <a:xfrm>
            <a:off x="5112000" y="5508000"/>
            <a:ext cx="2052000" cy="5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80">
                <a:solidFill>
                  <a:srgbClr val="667085"/>
                </a:solidFill>
                <a:latin typeface="Arial"/>
                <a:cs typeface="Arial"/>
              </a:rPr>
              <a:t>Уровень вовлеченности в областях с hands-on управленческим опытом.</a:t>
            </a:r>
            <a:endParaRPr lang="ru-RU" sz="580"/>
          </a:p>
        </p:txBody>
      </p:sp>
      <p:sp>
        <p:nvSpPr>
          <p:cNvPr id="80" name="bar label"/>
          <p:cNvSpPr txBox="1"/>
          <p:nvPr/>
        </p:nvSpPr>
        <p:spPr>
          <a:xfrm>
            <a:off x="5112000" y="6048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Retail business and P&amp;L</a:t>
            </a: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610"/>
          </a:p>
        </p:txBody>
      </p:sp>
      <p:sp>
        <p:nvSpPr>
          <p:cNvPr id="81" name="bar bg"/>
          <p:cNvSpPr/>
          <p:nvPr/>
        </p:nvSpPr>
        <p:spPr>
          <a:xfrm>
            <a:off x="5112000" y="6238800"/>
            <a:ext cx="2052000" cy="972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2" name="bar fill"/>
          <p:cNvSpPr/>
          <p:nvPr/>
        </p:nvSpPr>
        <p:spPr>
          <a:xfrm>
            <a:off x="5112000" y="6238800"/>
            <a:ext cx="2052000" cy="972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3" name="bar label"/>
          <p:cNvSpPr txBox="1"/>
          <p:nvPr/>
        </p:nvSpPr>
        <p:spPr>
          <a:xfrm>
            <a:off x="5112000" y="6588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Products and growth</a:t>
            </a: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610"/>
          </a:p>
        </p:txBody>
      </p:sp>
      <p:sp>
        <p:nvSpPr>
          <p:cNvPr id="84" name="bar bg"/>
          <p:cNvSpPr/>
          <p:nvPr/>
        </p:nvSpPr>
        <p:spPr>
          <a:xfrm>
            <a:off x="5112000" y="6778800"/>
            <a:ext cx="2052000" cy="972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5" name="bar fill"/>
          <p:cNvSpPr/>
          <p:nvPr/>
        </p:nvSpPr>
        <p:spPr>
          <a:xfrm>
            <a:off x="5112000" y="6778800"/>
            <a:ext cx="2052000" cy="972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6" name="bar label"/>
          <p:cNvSpPr txBox="1"/>
          <p:nvPr/>
        </p:nvSpPr>
        <p:spPr>
          <a:xfrm>
            <a:off x="5112000" y="7128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Channels and partnerships</a:t>
            </a: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610"/>
          </a:p>
        </p:txBody>
      </p:sp>
      <p:sp>
        <p:nvSpPr>
          <p:cNvPr id="87" name="bar bg"/>
          <p:cNvSpPr/>
          <p:nvPr/>
        </p:nvSpPr>
        <p:spPr>
          <a:xfrm>
            <a:off x="5112000" y="7318800"/>
            <a:ext cx="2052000" cy="972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8" name="bar fill"/>
          <p:cNvSpPr/>
          <p:nvPr/>
        </p:nvSpPr>
        <p:spPr>
          <a:xfrm>
            <a:off x="5112000" y="7318800"/>
            <a:ext cx="2052000" cy="972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9" name="bar label"/>
          <p:cNvSpPr txBox="1"/>
          <p:nvPr/>
        </p:nvSpPr>
        <p:spPr>
          <a:xfrm>
            <a:off x="5112000" y="7668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Technology and delivery</a:t>
            </a: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 80%</a:t>
            </a:r>
            <a:endParaRPr lang="ru-RU" sz="610"/>
          </a:p>
        </p:txBody>
      </p:sp>
      <p:sp>
        <p:nvSpPr>
          <p:cNvPr id="90" name="bar bg"/>
          <p:cNvSpPr/>
          <p:nvPr/>
        </p:nvSpPr>
        <p:spPr>
          <a:xfrm>
            <a:off x="5112000" y="7858800"/>
            <a:ext cx="2052000" cy="972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1" name="bar fill"/>
          <p:cNvSpPr/>
          <p:nvPr/>
        </p:nvSpPr>
        <p:spPr>
          <a:xfrm>
            <a:off x="5112000" y="7858800"/>
            <a:ext cx="1641600" cy="972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92" name="bar label"/>
          <p:cNvSpPr txBox="1"/>
          <p:nvPr/>
        </p:nvSpPr>
        <p:spPr>
          <a:xfrm>
            <a:off x="5112000" y="8208000"/>
            <a:ext cx="2052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Regulatory</a:t>
            </a:r>
            <a:r>
              <a:rPr lang="ru-RU" sz="610" b="1">
                <a:solidFill>
                  <a:srgbClr val="173A5E"/>
                </a:solidFill>
                <a:latin typeface="Arial"/>
                <a:cs typeface="Arial"/>
              </a:rPr>
              <a:t> 70%</a:t>
            </a:r>
            <a:endParaRPr lang="ru-RU" sz="610"/>
          </a:p>
        </p:txBody>
      </p:sp>
      <p:sp>
        <p:nvSpPr>
          <p:cNvPr id="93" name="bar bg"/>
          <p:cNvSpPr/>
          <p:nvPr/>
        </p:nvSpPr>
        <p:spPr>
          <a:xfrm>
            <a:off x="5112000" y="8398800"/>
            <a:ext cx="2052000" cy="972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4" name="bar fill"/>
          <p:cNvSpPr/>
          <p:nvPr/>
        </p:nvSpPr>
        <p:spPr>
          <a:xfrm>
            <a:off x="5112000" y="8398800"/>
            <a:ext cx="1436400" cy="972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100" name="edu"/>
          <p:cNvSpPr txBox="1"/>
          <p:nvPr/>
        </p:nvSpPr>
        <p:spPr>
          <a:xfrm>
            <a:off x="5112000" y="8892000"/>
            <a:ext cx="2052000" cy="9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80" b="1">
                <a:solidFill>
                  <a:srgbClr val="0F2742"/>
                </a:solidFill>
                <a:latin typeface="Arial"/>
                <a:cs typeface="Arial"/>
              </a:rPr>
              <a:t>ОБРАЗОВАНИЕ И ЯЗЫКИ</a:t>
            </a:r>
            <a:endParaRPr lang="ru-RU" sz="780"/>
          </a:p>
          <a:p>
            <a:pPr>
              <a:buNone/>
            </a:pPr>
            <a:r>
              <a:rPr lang="ru-RU" sz="600">
                <a:solidFill>
                  <a:srgbClr val="1F2933"/>
                </a:solidFill>
                <a:latin typeface="Arial"/>
                <a:cs typeface="Arial"/>
              </a:rPr>
              <a:t>МГОУ, Москва, 1998
Менеджмент и экономическая политика
Русский - родной · Английский - C2
Испанский - базовый</a:t>
            </a:r>
            <a:endParaRPr lang="ru-RU" sz="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96000" y="288000"/>
            <a:ext cx="676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400" b="1">
                <a:solidFill>
                  <a:srgbClr val="0F2742"/>
                </a:solidFill>
                <a:latin typeface="Arial"/>
                <a:cs typeface="Arial"/>
              </a:rPr>
              <a:t>Избранный опыт и достижения</a:t>
            </a:r>
            <a:endParaRPr lang="ru-RU" sz="1400"/>
          </a:p>
        </p:txBody>
      </p:sp>
      <p:sp>
        <p:nvSpPr>
          <p:cNvPr id="3" name="line"/>
          <p:cNvSpPr/>
          <p:nvPr/>
        </p:nvSpPr>
        <p:spPr>
          <a:xfrm>
            <a:off x="396000" y="720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10" name="ВТБ"/>
          <p:cNvSpPr txBox="1"/>
          <p:nvPr/>
        </p:nvSpPr>
        <p:spPr>
          <a:xfrm>
            <a:off x="396000" y="936000"/>
            <a:ext cx="6768000" cy="2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Дебетовые карты, расчетные продукты, процессинг, федеральные программы · [актуальная должность и период после 2022 - уточнить]</a:t>
            </a:r>
            <a:endParaRPr lang="ru-RU" sz="64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Скорректировала стратегию дебетовых карт и расчетных продуктов под рост активной клиентской базы; определены инструменты привлечения и источники финансирования.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Продуктовые, маркетинговые и дистрибуционные изменения реализованы одновременно с масштабной IT-трансформацией.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Позиция N2 по активной клиентской базе: 25 млн клиентов, рост +25% YoY.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Бесшовная замена процессинга для 20 млн клиентов без простоя в операциях.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2 млн детей с Пушкинскими картами за 8 месяцев: концепция, продукт, интеграции с регулятором, нормативная база и переключение.</a:t>
            </a:r>
            <a:endParaRPr lang="ru-RU" sz="590"/>
          </a:p>
        </p:txBody>
      </p:sp>
      <p:sp>
        <p:nvSpPr>
          <p:cNvPr id="11" name="ФК Банк Открытие"/>
          <p:cNvSpPr txBox="1"/>
          <p:nvPr/>
        </p:nvSpPr>
        <p:spPr>
          <a:xfrm>
            <a:off x="396000" y="3672000"/>
            <a:ext cx="6768000" cy="30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ФК Банк Открытие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Лидер Трайба Ежедневный Банкинг / Директор департамента · Январь 2021 - после декабря 2022; Февраль 2018 - Декабрь 2020</a:t>
            </a:r>
            <a:endParaRPr lang="ru-RU" sz="64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Ежедневный банкинг: дебетовые и зарплатные карты, РКО; рост клиентской базы через daily-потребности клиентов.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Ресурс 170 человек, 12 бизнес-команд; KPI: АКБ, продажи/портфель, P&amp;L, CIR, pNPS, MAU/DAU.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Пассивный и расчетный бизнес: депозиты, накопительные счета, карты, платежи и переводы, страховые, сервисные и инвестиционные продукты.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АКБ +11% до 2,1 млн клиентов; AUM +35%, транзакционный отток сокращен в 3 раза, РКО на самоокупаемости.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1,5 млн клиентов на 8 процессингах без оттока; переход структуры управления и разработки на Agile.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Frank RG: лучшая дебетовая карта 2021 - N1, Premium Light 2022 - N1, лучший банк для премиальных клиентов 2022 - N2.</a:t>
            </a:r>
            <a:endParaRPr lang="ru-RU" sz="590"/>
          </a:p>
        </p:txBody>
      </p:sp>
      <p:sp>
        <p:nvSpPr>
          <p:cNvPr id="12" name="ВТБ / ВТБ24"/>
          <p:cNvSpPr txBox="1"/>
          <p:nvPr/>
        </p:nvSpPr>
        <p:spPr>
          <a:xfrm>
            <a:off x="396000" y="6912000"/>
            <a:ext cx="6768000" cy="28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 / ВТБ24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Сберегательные и комиссионные продукты; автобизнес и автокредитование · Февраль 2017 - Январь 2018; Декабрь 2005 - Октябрь 2015</a:t>
            </a:r>
            <a:endParaRPr lang="ru-RU" sz="64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Банке ВТБ управляла розничным портфелем сберегательных и комиссионных продуктов: стратегия, портфели/продажи/доходы, продуктовые предложения, модели продаж, мотивация и партнерства.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ВТБ24 запустила автокредитование как самостоятельное бизнес-направление со stand-alone моделью и партнерской сетью дистрибуции.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25% притока клиентов розничного бизнеса, 88% NTB; прибыль с 36-го месяца; позиция N1 по кредитному портфелю.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40 человек прямого подчинения, 1500 функционально в региональной сети, 600+ точек продаж.</a:t>
            </a:r>
            <a:endParaRPr lang="ru-RU" sz="590"/>
          </a:p>
          <a:p>
            <a:pPr marL="155000" indent="-80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Продуктовая модель: 10+ продуктов, 300+ программ, 1,5 тыс. промо-акций; портфель 70 млрд руб., исполнение плана прибыли 93-104%.</a:t>
            </a:r>
            <a:endParaRPr lang="ru-RU" sz="590"/>
          </a:p>
        </p:txBody>
      </p:sp>
      <p:sp>
        <p:nvSpPr>
          <p:cNvPr id="90" name="bottom"/>
          <p:cNvSpPr/>
          <p:nvPr/>
        </p:nvSpPr>
        <p:spPr>
          <a:xfrm>
            <a:off x="396000" y="950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91" name="note"/>
          <p:cNvSpPr txBox="1"/>
          <p:nvPr/>
        </p:nvSpPr>
        <p:spPr>
          <a:xfrm>
            <a:off x="396000" y="9612000"/>
            <a:ext cx="676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00">
                <a:solidFill>
                  <a:srgbClr val="667085"/>
                </a:solidFill>
                <a:latin typeface="Arial"/>
                <a:cs typeface="Arial"/>
              </a:rPr>
              <a:t>Старое CV использовано для уточнения опыта до 2022 года. Актуальную должность и период последнего места работы стоит заменить в первом блоке ВТБ перед отправкой.</a:t>
            </a:r>
            <a:endParaRPr lang="ru-RU" sz="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 Theme">
  <a:themeElements>
    <a:clrScheme name="Resume">
      <a:dk1>
        <a:srgbClr val="1F2933"/>
      </a:dk1>
      <a:lt1>
        <a:srgbClr val="FFFFFF"/>
      </a:lt1>
      <a:dk2>
        <a:srgbClr val="0F2742"/>
      </a:dk2>
      <a:lt2>
        <a:srgbClr val="F8FAFC"/>
      </a:lt2>
      <a:accent1>
        <a:srgbClr val="173A5E"/>
      </a:accent1>
      <a:accent2>
        <a:srgbClr val="0F4778"/>
      </a:accent2>
      <a:accent3>
        <a:srgbClr val="D7DEE8"/>
      </a:accent3>
      <a:accent4>
        <a:srgbClr val="E8F1FB"/>
      </a:accent4>
      <a:accent5>
        <a:srgbClr val="667085"/>
      </a:accent5>
      <a:accent6>
        <a:srgbClr val="4B5563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cs typeface="Arial"/>
      </a:majorFont>
      <a:minorFont>
        <a:latin typeface="Arial"/>
        <a:cs typeface="Arial"/>
      </a:minorFont>
    </a:fontScheme>
    <a:fmtScheme name="Resum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A4 Portrait</PresentationFormat>
  <Slides>2</Slides>
</Properties>
</file>

<file path=docProps/core.xml><?xml version="1.0" encoding="utf-8"?>
<cp:coreProperties xmlns:cp="http://schemas.openxmlformats.org/package/2006/metadata/core-properties" xmlns:dc="http://purl.org/dc/elements/1.1/">
  <dc:title>C-level fintech resume</dc:title>
  <dc:creator>Cursor</dc:creator>
</cp:coreProperties>
</file>